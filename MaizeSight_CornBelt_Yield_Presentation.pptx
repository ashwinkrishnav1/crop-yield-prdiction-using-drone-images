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MaizeSight presentation. Today we will present a complete multimodal remote sensing and machine learning system that accurately predicts maize grain yield weeks before harvest. By combining high-resolution UAV drone imagery at 3 key life-cycle stages with deep learning and tabular gradient boosting, we solve one of precision agriculture's hardest challenges: generalizing across unseen geographic fields.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outlines the motivation behind MaizeSight. Maize is crucial for global nutrition and energy. However, farmers and agronomists have historically been constrained: manual testing is destructive and slow, satellites suffer from coarse resolution and clouds, and combine harvesters only tell you the yield when the season is already over. Low-altitude drone flights solve this by providing centimeter-level imagery exactly when corrective actions can still be taken.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presents the central research problem. In precision agriculture, the real test of machine learning is out-of-domain transfer. When an algorithm trained in Nebraska is tested in Indiana, the baseline yield shifts drastically due to climate and soil differences. Off-the-shelf CNNs score negative R-squared. Solving this problem has massive economic consequences for farmers, breeders, and commodity supply chains.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defines our objectives and project boundaries. We set out to create an end-to-end multimodal pipeline that connects drone flights to combine-harvested yields. Rather than relying on a single monolithic model, we designed a dual-paradigm architecture: a Specialist model for monitored sites, and a Generalist model for brand-new fields. The scope encompasses 2,131 audited plots across Nebraska, Iowa, and Indiana.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introduces our data foundation. Sourced from Shrestha et al. on Dryad, the 2022 season covers 5 distinct environments: from severe drought in Lincoln, Nebraska (averaging 41 bu/ac) to prime alluvial river soil in Missouri Valley and Crawfordsville, Indiana (over 165 bu/ac). We combine two modalities: high-resolution RGB drone imagery across 3 flights and ground-truth combine harvest records standardized to 15.5% moisture.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details our data engineering. We enforce two critical techniques: first, replication padding prevents artificial zero-gradient borders from throwing off the CNN filters; second, strict plot-level splitting ensures that all three temporal flights for a given physical plot remain in the same partition. Our feature engineering creates four distinct spaces: deep latent embeddings, biophysical indices, growth rate deltas, and spatial/genetic priors.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shows key insights from our exploratory data analysis. The yield distribution showed extreme bimodality: Lincoln averaged only 41 bushels per acre due to drought, whereas Crawfordsville reached 165 bu/ac. This proved that a standard model cannot simply guess yields without knowing the field's baseline. We also observed how correlation changes over time: TP1 reflects stand count, TP2 reflects vegetative canopy, and TP3 tasseling shows the highest single-flight correlation to grain yield.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focuses specifically on Convolutional Neural Networks. Standard neural networks flatten an image and lose all row geometry. CNNs slide small weight kernels across the 2D image, learning hierarchical representations from simple leaf edges up to complex tassel clusters. In MaizeSight, we use EfficientNet-B0 as a feature extractor: we remove its classification head and output a 1,280-dimensional latent embedding for each patch, pooling them across plots to feed our downstream regressors.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explains our primary tabular engine: XGBoost. Neural networks often struggle with heterogeneous tabular data, but XGBoost excels at fusing continuous embeddings, discrete canopy indices, and categorical hybrid parentages. Its sequential boosting with second-order Taylor expansion and L1/L2 penalties prevents overfitting on noisy agricultural plots, and its tree splits naturally model non-linear biological 'if-then' rules.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architectural choices. Rather than relying on a single algorithm, we ensemble four distinct regressors: XGBoost, ExtraTrees for variance reduction, HistGradientBoosting for integer-binned decision trees, and Ridge regression for linear stability. In Model 1, three feature views are stacked together. In Model 2, we decouple field-level yield anchoring from within-field plot ranking.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presents our validation rigor. Random splitting is disastrous with multi-temporal data because images of the same plot at different dates would leak across splits. We lock all three flights into the same partition. Furthermore, we test Model 2 using Leave-One-Location-Out: we train on Nebraska and Iowa, and evaluate purely on Crawfordsville, Indiana, which the model has never seen before.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presents the ablation results for Model 1 across 323 held-out test plots. A raw single-flight CNN achieves an R-squared of 0.794. Adding multi-temporal dynamics boosts it to 0.809. Fusing canopy indices pushes it to 0.818, and incorporating spatial kriging and hybrid genetics drops RMSE by over 1.6 bushels per acre. Our final three-view ensemble reaches an R-squared of 0.8454 with an average error of only 16.5 bu/ac.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highlights our breakthrough in out-of-domain transfer learning. Naive transfer learning scored negative 1.62 at Crawfordsville, Indiana. Our decoupled Anchor-Ranker architecture broke through this barrier, achieving a positive R-squared of +0.140 in pure zero-shot mode. When just 15 reference plots were provided for calibration, R-squared reached +0.217 with an RMSE of 21.89 bu/ac.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provides a comprehensive benchmark comparison. We show why heavy backbones like ResNet-50 overfit on 2,000 plots compared to EfficientNet-B0; why zero padding corrupts edge features compared to replication padding; why single-flight sensing hits an R-squared ceiling of 0.794; and why monolithic transfer fails catastrophically compared to our decoupled Anchor-Ranker approach.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showcases our production software implementation. We built a full-stack platform called MaizeSight. The FastAPI backend runs dual-model inference in milliseconds, while the frontend provides an interactive Three.js 3D map, automated file matching that links drone flight PNGs by plot ID, and diagnostic flags that protect agronomists from corrupt or missing image inputs.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concludes our core findings. Multi-temporal sensing is non-negotiable; hybrid feature fusion beats pure pixel deep learning; decoupling field anchors from within-field rankers solves the cross-site transfer barrier; and measuring just 15 reference plots makes few-shot adaptation practical in real-world agriculture.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looks forward. We outline four high-impact directions: fusing multispectral and thermal sensors for water stress detection; combining satellite and drone data for county-wide coverage; implementing spatio-temporal Transformers; and quantizing our models for live edge inference on NVIDIA Jetson computers mounted directly on drones.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provides formal citations for our work, recognizing Shrestha et al.'s open dataset on Dryad, classical remote sensing index papers by Woebbecke and Gitelson, and fundamental machine learning architectures including EfficientNet and XGBoost.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everyone for your attention. We would like to acknowledge our project advisors, the authors of the open Dryad dataset, and the open-source software libraries that made this system possible. We are now open for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777240"/>
            <a:ext cx="5120640" cy="347472"/>
          </a:xfrm>
          <a:prstGeom prst="roundRect">
            <a:avLst/>
          </a:prstGeom>
          <a:solidFill>
            <a:srgbClr val="123026"/>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E5A93C"/>
                </a:solidFill>
                <a:latin typeface="Calibri"/>
              </a:defRPr>
            </a:pPr>
            <a:r>
              <a:t>UAV REMOTE SENSING  |  DEEP VISION  |  CROSS-SITE ML</a:t>
            </a:r>
          </a:p>
        </p:txBody>
      </p:sp>
      <p:sp>
        <p:nvSpPr>
          <p:cNvPr id="5" name="TextBox 4"/>
          <p:cNvSpPr txBox="1"/>
          <p:nvPr/>
        </p:nvSpPr>
        <p:spPr>
          <a:xfrm>
            <a:off x="731520" y="1234440"/>
            <a:ext cx="6766560" cy="2103120"/>
          </a:xfrm>
          <a:prstGeom prst="rect">
            <a:avLst/>
          </a:prstGeom>
          <a:noFill/>
        </p:spPr>
        <p:txBody>
          <a:bodyPr wrap="square" lIns="0" tIns="0" rIns="0" bIns="0">
            <a:spAutoFit/>
          </a:bodyPr>
          <a:lstStyle/>
          <a:p>
            <a:pPr>
              <a:defRPr sz="4600" b="1">
                <a:solidFill>
                  <a:srgbClr val="E5A93C"/>
                </a:solidFill>
                <a:latin typeface="Calibri"/>
              </a:defRPr>
            </a:pPr>
            <a:r>
              <a:t>MaizeSight</a:t>
            </a:r>
          </a:p>
          <a:p>
            <a:pPr>
              <a:spcBef>
                <a:spcPts val="600"/>
              </a:spcBef>
              <a:defRPr sz="1700" b="1">
                <a:solidFill>
                  <a:srgbClr val="FFFFFF"/>
                </a:solidFill>
                <a:latin typeface="Calibri"/>
              </a:defRPr>
            </a:pPr>
            <a:r>
              <a:t>Multimodal UAV Remote Sensing &amp; Machine Learning for In-Season Maize Yield Prediction Across the US Corn Belt</a:t>
            </a:r>
          </a:p>
          <a:p>
            <a:pPr>
              <a:spcBef>
                <a:spcPts val="600"/>
              </a:spcBef>
              <a:defRPr sz="1100">
                <a:solidFill>
                  <a:srgbClr val="AAC8B9"/>
                </a:solidFill>
                <a:latin typeface="Calibri"/>
              </a:defRPr>
            </a:pPr>
            <a:r>
              <a:t>High-Resolution Drone Imagery • EfficientNet-B0 Latent Embeddings • Biophysical Canopy Indices • Decoupled Cross-Site Generalization</a:t>
            </a:r>
          </a:p>
        </p:txBody>
      </p:sp>
      <p:sp>
        <p:nvSpPr>
          <p:cNvPr id="6" name="Rounded Rectangle 5"/>
          <p:cNvSpPr/>
          <p:nvPr/>
        </p:nvSpPr>
        <p:spPr>
          <a:xfrm>
            <a:off x="731520" y="3566160"/>
            <a:ext cx="6766560" cy="2697480"/>
          </a:xfrm>
          <a:prstGeom prst="roundRect">
            <a:avLst/>
          </a:prstGeom>
          <a:solidFill>
            <a:srgbClr val="123026"/>
          </a:solidFill>
          <a:ln w="12700">
            <a:solidFill>
              <a:srgbClr val="265544"/>
            </a:solidFill>
          </a:ln>
        </p:spPr>
        <p:style>
          <a:lnRef idx="1">
            <a:schemeClr val="accent1"/>
          </a:lnRef>
          <a:fillRef idx="3">
            <a:schemeClr val="accent1"/>
          </a:fillRef>
          <a:effectRef idx="2">
            <a:schemeClr val="accent1"/>
          </a:effectRef>
          <a:fontRef idx="minor">
            <a:schemeClr val="lt1"/>
          </a:fontRef>
        </p:style>
        <p:txBody>
          <a:bodyPr rtlCol="0" anchor="ctr" wrap="square" tIns="164592" lIns="228600" rIns="228600"/>
          <a:lstStyle/>
          <a:p>
            <a:pPr algn="ctr">
              <a:defRPr b="1" sz="1100">
                <a:solidFill>
                  <a:srgbClr val="E5A93C"/>
                </a:solidFill>
              </a:defRPr>
            </a:pPr>
            <a:r>
              <a:t>KEY PROJECT HIGHLIGHTS &amp; ARCHITECTURAL ADVANCES</a:t>
            </a:r>
          </a:p>
          <a:p>
            <a:pPr>
              <a:spcBef>
                <a:spcPts val="700"/>
              </a:spcBef>
            </a:pPr>
            <a:r>
              <a:rPr b="1" sz="1000">
                <a:solidFill>
                  <a:srgbClr val="FFFFFF"/>
                </a:solidFill>
              </a:rPr>
              <a:t>• Multi-Temporal Triad: </a:t>
            </a:r>
            <a:r>
              <a:rPr sz="950">
                <a:solidFill>
                  <a:srgbClr val="BED7CD"/>
                </a:solidFill>
              </a:rPr>
              <a:t>Tracks emergence (TP1), canopy closure (TP2), and flowering (TP3).</a:t>
            </a:r>
          </a:p>
          <a:p>
            <a:pPr>
              <a:spcBef>
                <a:spcPts val="700"/>
              </a:spcBef>
            </a:pPr>
            <a:r>
              <a:rPr b="1" sz="1000">
                <a:solidFill>
                  <a:srgbClr val="FFFFFF"/>
                </a:solidFill>
              </a:rPr>
              <a:t>• Dual-Model Strategy: </a:t>
            </a:r>
            <a:r>
              <a:rPr sz="950">
                <a:solidFill>
                  <a:srgbClr val="BED7CD"/>
                </a:solidFill>
              </a:rPr>
              <a:t>Model 1 In-Domain Specialist (R² = 0.845) vs Model 2 Zero-Shot Generalist (LOLO).</a:t>
            </a:r>
          </a:p>
          <a:p>
            <a:pPr>
              <a:spcBef>
                <a:spcPts val="700"/>
              </a:spcBef>
            </a:pPr>
            <a:r>
              <a:rPr b="1" sz="1000">
                <a:solidFill>
                  <a:srgbClr val="FFFFFF"/>
                </a:solidFill>
              </a:rPr>
              <a:t>• Audited Dataset: </a:t>
            </a:r>
            <a:r>
              <a:rPr sz="950">
                <a:solidFill>
                  <a:srgbClr val="BED7CD"/>
                </a:solidFill>
              </a:rPr>
              <a:t>2,131 verified plots across 5 trial sites in Nebraska, Iowa, and Indiana (Dryad).</a:t>
            </a:r>
          </a:p>
          <a:p>
            <a:pPr>
              <a:spcBef>
                <a:spcPts val="700"/>
              </a:spcBef>
            </a:pPr>
            <a:r>
              <a:rPr b="1" sz="1000">
                <a:solidFill>
                  <a:srgbClr val="FFFFFF"/>
                </a:solidFill>
              </a:rPr>
              <a:t>• Overcoming Domain Shift: </a:t>
            </a:r>
            <a:r>
              <a:rPr sz="950">
                <a:solidFill>
                  <a:srgbClr val="BED7CD"/>
                </a:solidFill>
              </a:rPr>
              <a:t>Decoupled Field Anchor + Within-Field Ranker flips negative R² to +0.217.</a:t>
            </a:r>
          </a:p>
        </p:txBody>
      </p:sp>
      <p:pic>
        <p:nvPicPr>
          <p:cNvPr id="7" name="Picture 6" descr="USA Highlighted Midwest States Map.png"/>
          <p:cNvPicPr>
            <a:picLocks noChangeAspect="1"/>
          </p:cNvPicPr>
          <p:nvPr/>
        </p:nvPicPr>
        <p:blipFill>
          <a:blip r:embed="rId2"/>
          <a:stretch>
            <a:fillRect/>
          </a:stretch>
        </p:blipFill>
        <p:spPr>
          <a:xfrm>
            <a:off x="7772400" y="1051560"/>
            <a:ext cx="3749039" cy="3749039"/>
          </a:xfrm>
          <a:prstGeom prst="rect">
            <a:avLst/>
          </a:prstGeom>
        </p:spPr>
      </p:pic>
      <p:sp>
        <p:nvSpPr>
          <p:cNvPr id="8" name="Rounded Rectangle 7"/>
          <p:cNvSpPr/>
          <p:nvPr/>
        </p:nvSpPr>
        <p:spPr>
          <a:xfrm>
            <a:off x="7772400" y="4983480"/>
            <a:ext cx="3749039" cy="1280160"/>
          </a:xfrm>
          <a:prstGeom prst="roundRect">
            <a:avLst/>
          </a:prstGeom>
          <a:solidFill>
            <a:srgbClr val="123026"/>
          </a:solidFill>
          <a:ln w="12700">
            <a:solidFill>
              <a:srgbClr val="265544"/>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rIns="164592"/>
          <a:lstStyle/>
          <a:p>
            <a:pPr algn="ctr">
              <a:defRPr b="1" sz="950">
                <a:solidFill>
                  <a:srgbClr val="E5A93C"/>
                </a:solidFill>
              </a:defRPr>
            </a:pPr>
            <a:r>
              <a:t>RESEARCH GEOGRAPHY (2022 SEASON)</a:t>
            </a:r>
          </a:p>
          <a:p>
            <a:pPr>
              <a:spcBef>
                <a:spcPts val="300"/>
              </a:spcBef>
              <a:defRPr sz="900">
                <a:solidFill>
                  <a:srgbClr val="BED7CD"/>
                </a:solidFill>
              </a:defRPr>
            </a:pPr>
            <a:r>
              <a:t>5 Multi-State Research Sites: Scottsbluff NE, Lincoln NE, Ames IA, Missouri Valley IA, and Crawfordsville 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SECTION I • INTRODUCTION &amp; MOTIVATION</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The Agricultural Imperative: In-Season Yield Intelligence</a:t>
            </a:r>
          </a:p>
          <a:p>
            <a:pPr>
              <a:spcBef>
                <a:spcPts val="300"/>
              </a:spcBef>
              <a:defRPr sz="1150">
                <a:solidFill>
                  <a:srgbClr val="55695F"/>
                </a:solidFill>
                <a:latin typeface="Calibri"/>
              </a:defRPr>
            </a:pPr>
            <a:r>
              <a:t>Why real-time, non-destructive crop monitoring drives economic and food security</a:t>
            </a:r>
          </a:p>
        </p:txBody>
      </p:sp>
      <p:sp>
        <p:nvSpPr>
          <p:cNvPr id="5" name="Rounded Rectangle 4"/>
          <p:cNvSpPr/>
          <p:nvPr/>
        </p:nvSpPr>
        <p:spPr>
          <a:xfrm>
            <a:off x="731520" y="1645920"/>
            <a:ext cx="3364992"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300">
                <a:solidFill>
                  <a:srgbClr val="0F2D24"/>
                </a:solidFill>
              </a:defRPr>
            </a:pPr>
            <a:r>
              <a:t>1. Global Food Security &amp; Scale</a:t>
            </a:r>
          </a:p>
          <a:p>
            <a:pPr>
              <a:spcBef>
                <a:spcPts val="1000"/>
              </a:spcBef>
            </a:pPr>
            <a:r>
              <a:rPr b="1" sz="1050">
                <a:solidFill>
                  <a:srgbClr val="0F2D24"/>
                </a:solidFill>
              </a:rPr>
              <a:t>• Cornerstone Crop: </a:t>
            </a:r>
            <a:r>
              <a:rPr sz="1000">
                <a:solidFill>
                  <a:srgbClr val="182620"/>
                </a:solidFill>
              </a:rPr>
              <a:t>Maize (Zea mays) is a vital global commodity supplying animal feed, human sustenance, and industrial biofuels.</a:t>
            </a:r>
          </a:p>
          <a:p>
            <a:pPr>
              <a:spcBef>
                <a:spcPts val="1000"/>
              </a:spcBef>
            </a:pPr>
            <a:r>
              <a:rPr b="1" sz="1050">
                <a:solidFill>
                  <a:srgbClr val="0F2D24"/>
                </a:solidFill>
              </a:rPr>
              <a:t>• Economic Scale: </a:t>
            </a:r>
            <a:r>
              <a:rPr sz="1000">
                <a:solidFill>
                  <a:srgbClr val="182620"/>
                </a:solidFill>
              </a:rPr>
              <a:t>Hundreds of millions of bushels are produced each year across the US Corn Belt, driving billions in agricultural trade.</a:t>
            </a:r>
          </a:p>
          <a:p>
            <a:pPr>
              <a:spcBef>
                <a:spcPts val="1000"/>
              </a:spcBef>
            </a:pPr>
            <a:r>
              <a:rPr b="1" sz="1050">
                <a:solidFill>
                  <a:srgbClr val="0F2D24"/>
                </a:solidFill>
              </a:rPr>
              <a:t>• Climate Volatility: </a:t>
            </a:r>
            <a:r>
              <a:rPr sz="1000">
                <a:solidFill>
                  <a:srgbClr val="182620"/>
                </a:solidFill>
              </a:rPr>
              <a:t>Increasingly erratic seasonal weather patterns (flash droughts, heatwaves, extreme rain) make early yield estimation critical for supply-chain resilience.</a:t>
            </a:r>
          </a:p>
        </p:txBody>
      </p:sp>
      <p:sp>
        <p:nvSpPr>
          <p:cNvPr id="6" name="Rounded Rectangle 5"/>
          <p:cNvSpPr/>
          <p:nvPr/>
        </p:nvSpPr>
        <p:spPr>
          <a:xfrm>
            <a:off x="4407408" y="1645920"/>
            <a:ext cx="3364992"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300">
                <a:solidFill>
                  <a:srgbClr val="DC2626"/>
                </a:solidFill>
              </a:defRPr>
            </a:pPr>
            <a:r>
              <a:t>2. Flaws of Conventional Methods</a:t>
            </a:r>
          </a:p>
          <a:p>
            <a:pPr>
              <a:spcBef>
                <a:spcPts val="1000"/>
              </a:spcBef>
            </a:pPr>
            <a:r>
              <a:rPr b="1" sz="1050">
                <a:solidFill>
                  <a:srgbClr val="DC2626"/>
                </a:solidFill>
              </a:rPr>
              <a:t>• Manual Field Sampling: </a:t>
            </a:r>
            <a:r>
              <a:rPr sz="1000">
                <a:solidFill>
                  <a:srgbClr val="182620"/>
                </a:solidFill>
              </a:rPr>
              <a:t>Labor-intensive, destructive to plants, and too sparse to capture spatial micro-variability across large plots.</a:t>
            </a:r>
          </a:p>
          <a:p>
            <a:pPr>
              <a:spcBef>
                <a:spcPts val="1000"/>
              </a:spcBef>
            </a:pPr>
            <a:r>
              <a:rPr b="1" sz="1050">
                <a:solidFill>
                  <a:srgbClr val="DC2626"/>
                </a:solidFill>
              </a:rPr>
              <a:t>• Combine Yield Monitors: </a:t>
            </a:r>
            <a:r>
              <a:rPr sz="1000">
                <a:solidFill>
                  <a:srgbClr val="182620"/>
                </a:solidFill>
              </a:rPr>
              <a:t>Provide high-precision yield data, but only post-harvest. That is far too late for mid-season nitrogen or irrigation management.</a:t>
            </a:r>
          </a:p>
          <a:p>
            <a:pPr>
              <a:spcBef>
                <a:spcPts val="1000"/>
              </a:spcBef>
            </a:pPr>
            <a:r>
              <a:rPr b="1" sz="1050">
                <a:solidFill>
                  <a:srgbClr val="DC2626"/>
                </a:solidFill>
              </a:rPr>
              <a:t>• Satellite Remote Sensing: </a:t>
            </a:r>
            <a:r>
              <a:rPr sz="1000">
                <a:solidFill>
                  <a:srgbClr val="182620"/>
                </a:solidFill>
              </a:rPr>
              <a:t>Coarse spatial resolution (10m–30m in Sentinel/Landsat) blends multiple rows; frequent cloud obscuration during key flowering windows.</a:t>
            </a:r>
          </a:p>
        </p:txBody>
      </p:sp>
      <p:sp>
        <p:nvSpPr>
          <p:cNvPr id="7" name="Rounded Rectangle 6"/>
          <p:cNvSpPr/>
          <p:nvPr/>
        </p:nvSpPr>
        <p:spPr>
          <a:xfrm>
            <a:off x="8083296" y="1645920"/>
            <a:ext cx="3364992" cy="4754880"/>
          </a:xfrm>
          <a:prstGeom prst="roundRect">
            <a:avLst/>
          </a:prstGeom>
          <a:solidFill>
            <a:srgbClr val="FFFFFF"/>
          </a:solidFill>
          <a:ln w="1905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300">
                <a:solidFill>
                  <a:srgbClr val="2E7D32"/>
                </a:solidFill>
              </a:defRPr>
            </a:pPr>
            <a:r>
              <a:t>3. The UAV Remote Sensing Solution</a:t>
            </a:r>
          </a:p>
          <a:p>
            <a:pPr>
              <a:spcBef>
                <a:spcPts val="1000"/>
              </a:spcBef>
            </a:pPr>
            <a:r>
              <a:rPr b="1" sz="1050">
                <a:solidFill>
                  <a:srgbClr val="2E7D32"/>
                </a:solidFill>
              </a:rPr>
              <a:t>• Sub-Centimeter Resolution: </a:t>
            </a:r>
            <a:r>
              <a:rPr sz="1000">
                <a:solidFill>
                  <a:srgbClr val="182620"/>
                </a:solidFill>
              </a:rPr>
              <a:t>Resolves individual maize leaves, row margins, tasseling heads, and inter-row weed/canopy gaps.</a:t>
            </a:r>
          </a:p>
          <a:p>
            <a:pPr>
              <a:spcBef>
                <a:spcPts val="1000"/>
              </a:spcBef>
            </a:pPr>
            <a:r>
              <a:rPr b="1" sz="1050">
                <a:solidFill>
                  <a:srgbClr val="2E7D32"/>
                </a:solidFill>
              </a:rPr>
              <a:t>• On-Demand Temporal Agility: </a:t>
            </a:r>
            <a:r>
              <a:rPr sz="1000">
                <a:solidFill>
                  <a:srgbClr val="182620"/>
                </a:solidFill>
              </a:rPr>
              <a:t>Fly under cloud ceilings precisely at critical biological stages: seedling emergence, canopy closure, and flowering.</a:t>
            </a:r>
          </a:p>
          <a:p>
            <a:pPr>
              <a:spcBef>
                <a:spcPts val="1000"/>
              </a:spcBef>
            </a:pPr>
            <a:r>
              <a:rPr b="1" sz="1050">
                <a:solidFill>
                  <a:srgbClr val="2E7D32"/>
                </a:solidFill>
              </a:rPr>
              <a:t>• Non-Destructive Tracking: </a:t>
            </a:r>
            <a:r>
              <a:rPr sz="1000">
                <a:solidFill>
                  <a:srgbClr val="182620"/>
                </a:solidFill>
              </a:rPr>
              <a:t>Monitors identical plots continuously across the full season to capture temporal growth trajectories.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SECTION II • PROBLEM STATEMENT &amp; RELEVANCE</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The Cross-Site Generalization Trap in Precision Agriculture</a:t>
            </a:r>
          </a:p>
          <a:p>
            <a:pPr>
              <a:spcBef>
                <a:spcPts val="300"/>
              </a:spcBef>
              <a:defRPr sz="1150">
                <a:solidFill>
                  <a:srgbClr val="55695F"/>
                </a:solidFill>
                <a:latin typeface="Calibri"/>
              </a:defRPr>
            </a:pPr>
            <a:r>
              <a:t>Why computer vision models fail catastrophically when transferred to new geographic fields</a:t>
            </a:r>
          </a:p>
        </p:txBody>
      </p:sp>
      <p:sp>
        <p:nvSpPr>
          <p:cNvPr id="5" name="Rounded Rectangle 4"/>
          <p:cNvSpPr/>
          <p:nvPr/>
        </p:nvSpPr>
        <p:spPr>
          <a:xfrm>
            <a:off x="731520" y="164592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300">
                <a:solidFill>
                  <a:srgbClr val="0F2D24"/>
                </a:solidFill>
              </a:defRPr>
            </a:pPr>
            <a:r>
              <a:t>1. The Technical Challenge: Environmental Domain Shift</a:t>
            </a:r>
          </a:p>
          <a:p>
            <a:pPr>
              <a:spcBef>
                <a:spcPts val="900"/>
              </a:spcBef>
            </a:pPr>
            <a:r>
              <a:rPr b="1" sz="1050">
                <a:solidFill>
                  <a:srgbClr val="0F2D24"/>
                </a:solidFill>
              </a:rPr>
              <a:t>• Complex G x E x M Biology: </a:t>
            </a:r>
            <a:r>
              <a:rPr sz="1000">
                <a:solidFill>
                  <a:srgbClr val="182620"/>
                </a:solidFill>
              </a:rPr>
              <a:t>Crop yield is not a pure function of canopy greenness. It is governed by non-linear Genotype x Environment x Management interactions.</a:t>
            </a:r>
          </a:p>
          <a:p>
            <a:pPr>
              <a:spcBef>
                <a:spcPts val="900"/>
              </a:spcBef>
            </a:pPr>
            <a:r>
              <a:rPr b="1" sz="1050">
                <a:solidFill>
                  <a:srgbClr val="0F2D24"/>
                </a:solidFill>
              </a:rPr>
              <a:t>• Environmental Baseline Offsets: </a:t>
            </a:r>
            <a:r>
              <a:rPr sz="1000">
                <a:solidFill>
                  <a:srgbClr val="182620"/>
                </a:solidFill>
              </a:rPr>
              <a:t>Different geographic sites have different soil types (loam vs alluvial), planting dates, and weather shocks. A lush canopy in a drought site yields very differently from one in prime soil.</a:t>
            </a:r>
          </a:p>
          <a:p>
            <a:pPr>
              <a:spcBef>
                <a:spcPts val="900"/>
              </a:spcBef>
            </a:pPr>
            <a:r>
              <a:rPr b="1" sz="1050">
                <a:solidFill>
                  <a:srgbClr val="0F2D24"/>
                </a:solidFill>
              </a:rPr>
              <a:t>• The Negative R² Collapse: </a:t>
            </a:r>
            <a:r>
              <a:rPr sz="1000">
                <a:solidFill>
                  <a:srgbClr val="182620"/>
                </a:solidFill>
              </a:rPr>
              <a:t>Standard deep neural networks trained on one farm achieve R² &gt; 0.80 locally, but when evaluated on an unseen farm, test R² collapses to -1.62 (worse than guessing the field mean).</a:t>
            </a:r>
          </a:p>
          <a:p>
            <a:pPr>
              <a:spcBef>
                <a:spcPts val="900"/>
              </a:spcBef>
            </a:pPr>
            <a:r>
              <a:rPr b="1" sz="1050">
                <a:solidFill>
                  <a:srgbClr val="0F2D24"/>
                </a:solidFill>
              </a:rPr>
              <a:t>• Overfitting to Local Artifacts: </a:t>
            </a:r>
            <a:r>
              <a:rPr sz="1000">
                <a:solidFill>
                  <a:srgbClr val="182620"/>
                </a:solidFill>
              </a:rPr>
              <a:t>Models easily memorize site-specific soil colors, flight illumination angles, or plot layout patterns rather than generalizable crop physiology.</a:t>
            </a:r>
          </a:p>
        </p:txBody>
      </p:sp>
      <p:sp>
        <p:nvSpPr>
          <p:cNvPr id="6" name="Rounded Rectangle 5"/>
          <p:cNvSpPr/>
          <p:nvPr/>
        </p:nvSpPr>
        <p:spPr>
          <a:xfrm>
            <a:off x="6217920" y="1645920"/>
            <a:ext cx="5212080" cy="4754880"/>
          </a:xfrm>
          <a:prstGeom prst="roundRect">
            <a:avLst/>
          </a:prstGeom>
          <a:solidFill>
            <a:srgbClr val="FFFFFF"/>
          </a:solidFill>
          <a:ln w="19050">
            <a:solidFill>
              <a:srgbClr val="F6D28F"/>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300">
                <a:solidFill>
                  <a:srgbClr val="E5A93C"/>
                </a:solidFill>
              </a:defRPr>
            </a:pPr>
            <a:r>
              <a:t>2. Real-World Relevance &amp; Stakeholder Impact</a:t>
            </a:r>
          </a:p>
          <a:p>
            <a:pPr>
              <a:spcBef>
                <a:spcPts val="900"/>
              </a:spcBef>
            </a:pPr>
            <a:r>
              <a:rPr b="1" sz="1050">
                <a:solidFill>
                  <a:srgbClr val="0F2D24"/>
                </a:solidFill>
              </a:rPr>
              <a:t>• Commercial Farm Managers: </a:t>
            </a:r>
            <a:r>
              <a:rPr sz="1000">
                <a:solidFill>
                  <a:srgbClr val="182620"/>
                </a:solidFill>
              </a:rPr>
              <a:t>Enables variable-rate nitrogen fertilization during mid-season vegetative growth, optimizing grain fill while preventing nitrogen leaching into waterways.</a:t>
            </a:r>
          </a:p>
          <a:p>
            <a:pPr>
              <a:spcBef>
                <a:spcPts val="900"/>
              </a:spcBef>
            </a:pPr>
            <a:r>
              <a:rPr b="1" sz="1050">
                <a:solidFill>
                  <a:srgbClr val="0F2D24"/>
                </a:solidFill>
              </a:rPr>
              <a:t>• Plant Breeders &amp; Geneticists: </a:t>
            </a:r>
            <a:r>
              <a:rPr sz="1000">
                <a:solidFill>
                  <a:srgbClr val="182620"/>
                </a:solidFill>
              </a:rPr>
              <a:t>Enables rapid phenotypic screening of thousands of experimental hybrid crosses across multi-acre plots without waiting for manual harvest.</a:t>
            </a:r>
          </a:p>
          <a:p>
            <a:pPr>
              <a:spcBef>
                <a:spcPts val="900"/>
              </a:spcBef>
            </a:pPr>
            <a:r>
              <a:rPr b="1" sz="1050">
                <a:solidFill>
                  <a:srgbClr val="0F2D24"/>
                </a:solidFill>
              </a:rPr>
              <a:t>• Crop Insurance &amp; Commodity Markets: </a:t>
            </a:r>
            <a:r>
              <a:rPr sz="1000">
                <a:solidFill>
                  <a:srgbClr val="182620"/>
                </a:solidFill>
              </a:rPr>
              <a:t>Provides objective, tamper-proof, plot-scale yield estimations to settle drought insurance claims and forecast regional grain supply weeks in advance.</a:t>
            </a:r>
          </a:p>
          <a:p>
            <a:pPr>
              <a:spcBef>
                <a:spcPts val="900"/>
              </a:spcBef>
            </a:pPr>
            <a:r>
              <a:rPr b="1" sz="1050">
                <a:solidFill>
                  <a:srgbClr val="0F2D24"/>
                </a:solidFill>
              </a:rPr>
              <a:t>• Logistics &amp; Storage Planning: </a:t>
            </a:r>
            <a:r>
              <a:rPr sz="1000">
                <a:solidFill>
                  <a:srgbClr val="182620"/>
                </a:solidFill>
              </a:rPr>
              <a:t>Allows grain elevator operators and shipping fleets to stage railcars and silos based on high-confidence pre-harvest yield maps.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SECTION III • OBJECTIVES &amp; SCOPE</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Project Objectives &amp; Scope: Dual-Paradigm Architecture</a:t>
            </a:r>
          </a:p>
          <a:p>
            <a:pPr>
              <a:spcBef>
                <a:spcPts val="300"/>
              </a:spcBef>
              <a:defRPr sz="1150">
                <a:solidFill>
                  <a:srgbClr val="55695F"/>
                </a:solidFill>
                <a:latin typeface="Calibri"/>
              </a:defRPr>
            </a:pPr>
            <a:r>
              <a:t>Architecting high in-domain precision alongside zero-shot cross-geography domain transfer</a:t>
            </a:r>
          </a:p>
        </p:txBody>
      </p:sp>
      <p:sp>
        <p:nvSpPr>
          <p:cNvPr id="5" name="Rounded Rectangle 4"/>
          <p:cNvSpPr/>
          <p:nvPr/>
        </p:nvSpPr>
        <p:spPr>
          <a:xfrm>
            <a:off x="731520" y="1645920"/>
            <a:ext cx="521208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50">
                <a:solidFill>
                  <a:srgbClr val="0F2D24"/>
                </a:solidFill>
              </a:defRPr>
            </a:pPr>
            <a:r>
              <a:t>1. End-to-End Multimodal Remote Sensing Pipeline</a:t>
            </a:r>
          </a:p>
          <a:p>
            <a:pPr>
              <a:spcBef>
                <a:spcPts val="400"/>
              </a:spcBef>
              <a:defRPr sz="1000">
                <a:solidFill>
                  <a:srgbClr val="182620"/>
                </a:solidFill>
              </a:defRPr>
            </a:pPr>
            <a:r>
              <a:t>Integrate multi-temporal UAV RGB orthomosaics across three phenological stages (TP1, TP2, TP3) with ground-truth agronomic tabular variables (stand count, planting date, pedigree crosses) into a unified computational workflow.</a:t>
            </a:r>
          </a:p>
        </p:txBody>
      </p:sp>
      <p:sp>
        <p:nvSpPr>
          <p:cNvPr id="6" name="Rounded Rectangle 5"/>
          <p:cNvSpPr/>
          <p:nvPr/>
        </p:nvSpPr>
        <p:spPr>
          <a:xfrm>
            <a:off x="6217920" y="1645920"/>
            <a:ext cx="521208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50">
                <a:solidFill>
                  <a:srgbClr val="2E7D32"/>
                </a:solidFill>
              </a:defRPr>
            </a:pPr>
            <a:r>
              <a:t>2. Dual-Model Architectural Strategy</a:t>
            </a:r>
          </a:p>
          <a:p>
            <a:pPr>
              <a:spcBef>
                <a:spcPts val="400"/>
              </a:spcBef>
              <a:defRPr sz="1000">
                <a:solidFill>
                  <a:srgbClr val="182620"/>
                </a:solidFill>
              </a:defRPr>
            </a:pPr>
            <a:r>
              <a:t>Build two complementary production models: Model 1 (In-Domain Specialist) maximizing precision across monitored research fields, and Model 2 (Zero-Shot Generalist) overcoming site shifts via a decoupled Field Anchor + Within-Field Ranker.</a:t>
            </a:r>
          </a:p>
        </p:txBody>
      </p:sp>
      <p:sp>
        <p:nvSpPr>
          <p:cNvPr id="7" name="Rounded Rectangle 6"/>
          <p:cNvSpPr/>
          <p:nvPr/>
        </p:nvSpPr>
        <p:spPr>
          <a:xfrm>
            <a:off x="731520" y="3749039"/>
            <a:ext cx="521208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50">
                <a:solidFill>
                  <a:srgbClr val="E5A93C"/>
                </a:solidFill>
              </a:defRPr>
            </a:pPr>
            <a:r>
              <a:t>3. Hybrid Vision-Agronomic Feature Engineering</a:t>
            </a:r>
          </a:p>
          <a:p>
            <a:pPr>
              <a:spcBef>
                <a:spcPts val="400"/>
              </a:spcBef>
              <a:defRPr sz="1000">
                <a:solidFill>
                  <a:srgbClr val="182620"/>
                </a:solidFill>
              </a:defRPr>
            </a:pPr>
            <a:r>
              <a:t>Extract 1,280-D latent deep embeddings via fine-tuned EfficientNet-B0, fuse with 12 biophysical canopy indices (ExG, VARI, FGCC), model multi-temporal growth velocities, and incorporate pedigree GCA/SCA proxy effects alongside 2D spatial kriging.</a:t>
            </a:r>
          </a:p>
        </p:txBody>
      </p:sp>
      <p:sp>
        <p:nvSpPr>
          <p:cNvPr id="8" name="Rounded Rectangle 7"/>
          <p:cNvSpPr/>
          <p:nvPr/>
        </p:nvSpPr>
        <p:spPr>
          <a:xfrm>
            <a:off x="6217920" y="3749039"/>
            <a:ext cx="521208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50">
                <a:solidFill>
                  <a:srgbClr val="0F2D24"/>
                </a:solidFill>
              </a:defRPr>
            </a:pPr>
            <a:r>
              <a:t>4. Production Web Platform with 3D Visualization</a:t>
            </a:r>
          </a:p>
          <a:p>
            <a:pPr>
              <a:spcBef>
                <a:spcPts val="400"/>
              </a:spcBef>
              <a:defRPr sz="1000">
                <a:solidFill>
                  <a:srgbClr val="182620"/>
                </a:solidFill>
              </a:defRPr>
            </a:pPr>
            <a:r>
              <a:t>Deploy a full-stack web application (FastAPI backend + Three.js/GSAP frontend) offering automated multi-temporal image matching, simultaneous dual-model inference, diagnostic quality flags, and sub-millisecond plot database exploration.</a:t>
            </a:r>
          </a:p>
        </p:txBody>
      </p:sp>
      <p:sp>
        <p:nvSpPr>
          <p:cNvPr id="9" name="Rounded Rectangle 8"/>
          <p:cNvSpPr/>
          <p:nvPr/>
        </p:nvSpPr>
        <p:spPr>
          <a:xfrm>
            <a:off x="731520" y="5852160"/>
            <a:ext cx="10698480" cy="548640"/>
          </a:xfrm>
          <a:prstGeom prst="roundRect">
            <a:avLst/>
          </a:prstGeom>
          <a:solidFill>
            <a:srgbClr val="E8F5E9"/>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050">
                <a:solidFill>
                  <a:srgbClr val="0F2D24"/>
                </a:solidFill>
              </a:defRPr>
            </a:pPr>
            <a:r>
              <a:t>PROJECT SCOPE: 5 Midwest Locations (NE, IA, IN)  •  2,131 Verified Research Plots  •  Standardized 15.5% Moisture Grain Yield (bu/ac)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DATASET OVERVIEW • SOURCE, GEOGRAPHY &amp; MODALITIES</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Multi-State Maize Field Trials from the US Corn Belt</a:t>
            </a:r>
          </a:p>
          <a:p>
            <a:pPr>
              <a:spcBef>
                <a:spcPts val="300"/>
              </a:spcBef>
              <a:defRPr sz="1150">
                <a:solidFill>
                  <a:srgbClr val="55695F"/>
                </a:solidFill>
                <a:latin typeface="Calibri"/>
              </a:defRPr>
            </a:pPr>
            <a:r>
              <a:t>Audited experimental footprint published by Shrestha et al. (2022) on Dryad Repository</a:t>
            </a:r>
          </a:p>
        </p:txBody>
      </p:sp>
      <p:sp>
        <p:nvSpPr>
          <p:cNvPr id="5" name="Rounded Rectangle 4"/>
          <p:cNvSpPr/>
          <p:nvPr/>
        </p:nvSpPr>
        <p:spPr>
          <a:xfrm>
            <a:off x="731520" y="1645920"/>
            <a:ext cx="62179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200">
                <a:solidFill>
                  <a:srgbClr val="0F2D24"/>
                </a:solidFill>
              </a:defRPr>
            </a:pPr>
            <a:r>
              <a:t>1. Geographic Footprint &amp; Environmental Diversity (2022)</a:t>
            </a:r>
          </a:p>
          <a:p>
            <a:pPr>
              <a:spcBef>
                <a:spcPts val="300"/>
              </a:spcBef>
              <a:defRPr sz="950">
                <a:solidFill>
                  <a:srgbClr val="55695F"/>
                </a:solidFill>
              </a:defRPr>
            </a:pPr>
            <a:r>
              <a:t>Academic Source: Shrestha et al. (2022) Dryad Repository (doi:10.5061/dryad.905qftttm)</a:t>
            </a:r>
          </a:p>
          <a:p>
            <a:pPr>
              <a:spcBef>
                <a:spcPts val="17500"/>
              </a:spcBef>
              <a:defRPr sz="900">
                <a:solidFill>
                  <a:srgbClr val="55695F"/>
                </a:solidFill>
              </a:defRPr>
            </a:pPr>
            <a:r>
              <a:t>Audit Note: 7,281 raw drone image files were audited down to 2,131 verified plots across the 5 sites. North Platte, NE was excluded due to published plot mowing/segmentation artifacts.</a:t>
            </a:r>
          </a:p>
        </p:txBody>
      </p:sp>
      <p:graphicFrame>
        <p:nvGraphicFramePr>
          <p:cNvPr id="6" name="Table 5"/>
          <p:cNvGraphicFramePr>
            <a:graphicFrameLocks noGrp="1"/>
          </p:cNvGraphicFramePr>
          <p:nvPr/>
        </p:nvGraphicFramePr>
        <p:xfrm>
          <a:off x="868680" y="2423160"/>
          <a:ext cx="5943600" cy="2103120"/>
        </p:xfrm>
        <a:graphic>
          <a:graphicData uri="http://schemas.openxmlformats.org/drawingml/2006/table">
            <a:tbl>
              <a:tblPr firstRow="1" bandRow="1">
                <a:tableStyleId>{5C22544A-7EE6-4342-B048-85BDC9FD1C3A}</a:tableStyleId>
              </a:tblPr>
              <a:tblGrid>
                <a:gridCol w="1463040"/>
                <a:gridCol w="731520"/>
                <a:gridCol w="1005840"/>
                <a:gridCol w="2743200"/>
              </a:tblGrid>
              <a:tr h="350520">
                <a:tc>
                  <a:txBody>
                    <a:bodyPr/>
                    <a:lstStyle/>
                    <a:p>
                      <a:pPr>
                        <a:defRPr b="1" sz="900">
                          <a:solidFill>
                            <a:srgbClr val="FFFFFF"/>
                          </a:solidFill>
                        </a:defRPr>
                      </a:pPr>
                      <a:r>
                        <a:t>Location, State</a:t>
                      </a:r>
                    </a:p>
                  </a:txBody>
                  <a:tcPr>
                    <a:solidFill>
                      <a:srgbClr val="0F2D24"/>
                    </a:solidFill>
                  </a:tcPr>
                </a:tc>
                <a:tc>
                  <a:txBody>
                    <a:bodyPr/>
                    <a:lstStyle/>
                    <a:p>
                      <a:pPr>
                        <a:defRPr b="1" sz="900">
                          <a:solidFill>
                            <a:srgbClr val="FFFFFF"/>
                          </a:solidFill>
                        </a:defRPr>
                      </a:pPr>
                      <a:r>
                        <a:t>Plots</a:t>
                      </a:r>
                    </a:p>
                  </a:txBody>
                  <a:tcPr>
                    <a:solidFill>
                      <a:srgbClr val="0F2D24"/>
                    </a:solidFill>
                  </a:tcPr>
                </a:tc>
                <a:tc>
                  <a:txBody>
                    <a:bodyPr/>
                    <a:lstStyle/>
                    <a:p>
                      <a:pPr>
                        <a:defRPr b="1" sz="900">
                          <a:solidFill>
                            <a:srgbClr val="FFFFFF"/>
                          </a:solidFill>
                        </a:defRPr>
                      </a:pPr>
                      <a:r>
                        <a:t>Yield (bu/ac)</a:t>
                      </a:r>
                    </a:p>
                  </a:txBody>
                  <a:tcPr>
                    <a:solidFill>
                      <a:srgbClr val="0F2D24"/>
                    </a:solidFill>
                  </a:tcPr>
                </a:tc>
                <a:tc>
                  <a:txBody>
                    <a:bodyPr/>
                    <a:lstStyle/>
                    <a:p>
                      <a:pPr>
                        <a:defRPr b="1" sz="900">
                          <a:solidFill>
                            <a:srgbClr val="FFFFFF"/>
                          </a:solidFill>
                        </a:defRPr>
                      </a:pPr>
                      <a:r>
                        <a:t>Environmental Characteristic</a:t>
                      </a:r>
                    </a:p>
                  </a:txBody>
                  <a:tcPr>
                    <a:solidFill>
                      <a:srgbClr val="0F2D24"/>
                    </a:solidFill>
                  </a:tcPr>
                </a:tc>
              </a:tr>
              <a:tr h="350520">
                <a:tc>
                  <a:txBody>
                    <a:bodyPr/>
                    <a:lstStyle/>
                    <a:p>
                      <a:pPr>
                        <a:defRPr sz="850">
                          <a:solidFill>
                            <a:srgbClr val="182620"/>
                          </a:solidFill>
                        </a:defRPr>
                      </a:pPr>
                      <a:r>
                        <a:t>Scottsbluff, NE</a:t>
                      </a:r>
                    </a:p>
                  </a:txBody>
                  <a:tcPr>
                    <a:solidFill>
                      <a:srgbClr val="FFFFFF"/>
                    </a:solidFill>
                  </a:tcPr>
                </a:tc>
                <a:tc>
                  <a:txBody>
                    <a:bodyPr/>
                    <a:lstStyle/>
                    <a:p>
                      <a:pPr>
                        <a:defRPr sz="850">
                          <a:solidFill>
                            <a:srgbClr val="182620"/>
                          </a:solidFill>
                        </a:defRPr>
                      </a:pPr>
                      <a:r>
                        <a:t>489</a:t>
                      </a:r>
                    </a:p>
                  </a:txBody>
                  <a:tcPr>
                    <a:solidFill>
                      <a:srgbClr val="FFFFFF"/>
                    </a:solidFill>
                  </a:tcPr>
                </a:tc>
                <a:tc>
                  <a:txBody>
                    <a:bodyPr/>
                    <a:lstStyle/>
                    <a:p>
                      <a:pPr>
                        <a:defRPr sz="850" b="1">
                          <a:solidFill>
                            <a:srgbClr val="182620"/>
                          </a:solidFill>
                        </a:defRPr>
                      </a:pPr>
                      <a:r>
                        <a:t>143.4</a:t>
                      </a:r>
                    </a:p>
                  </a:txBody>
                  <a:tcPr>
                    <a:solidFill>
                      <a:srgbClr val="FFFFFF"/>
                    </a:solidFill>
                  </a:tcPr>
                </a:tc>
                <a:tc>
                  <a:txBody>
                    <a:bodyPr/>
                    <a:lstStyle/>
                    <a:p>
                      <a:pPr>
                        <a:defRPr sz="850">
                          <a:solidFill>
                            <a:srgbClr val="182620"/>
                          </a:solidFill>
                        </a:defRPr>
                      </a:pPr>
                      <a:r>
                        <a:t>High-altitude semi-arid, irrigated</a:t>
                      </a:r>
                    </a:p>
                  </a:txBody>
                  <a:tcPr>
                    <a:solidFill>
                      <a:srgbClr val="FFFFFF"/>
                    </a:solidFill>
                  </a:tcPr>
                </a:tc>
              </a:tr>
              <a:tr h="350520">
                <a:tc>
                  <a:txBody>
                    <a:bodyPr/>
                    <a:lstStyle/>
                    <a:p>
                      <a:pPr>
                        <a:defRPr sz="850">
                          <a:solidFill>
                            <a:srgbClr val="182620"/>
                          </a:solidFill>
                        </a:defRPr>
                      </a:pPr>
                      <a:r>
                        <a:t>Lincoln, NE</a:t>
                      </a:r>
                    </a:p>
                  </a:txBody>
                  <a:tcPr>
                    <a:solidFill>
                      <a:srgbClr val="F5F8F6"/>
                    </a:solidFill>
                  </a:tcPr>
                </a:tc>
                <a:tc>
                  <a:txBody>
                    <a:bodyPr/>
                    <a:lstStyle/>
                    <a:p>
                      <a:pPr>
                        <a:defRPr sz="850">
                          <a:solidFill>
                            <a:srgbClr val="182620"/>
                          </a:solidFill>
                        </a:defRPr>
                      </a:pPr>
                      <a:r>
                        <a:t>504</a:t>
                      </a:r>
                    </a:p>
                  </a:txBody>
                  <a:tcPr>
                    <a:solidFill>
                      <a:srgbClr val="F5F8F6"/>
                    </a:solidFill>
                  </a:tcPr>
                </a:tc>
                <a:tc>
                  <a:txBody>
                    <a:bodyPr/>
                    <a:lstStyle/>
                    <a:p>
                      <a:pPr>
                        <a:defRPr sz="850" b="1">
                          <a:solidFill>
                            <a:srgbClr val="182620"/>
                          </a:solidFill>
                        </a:defRPr>
                      </a:pPr>
                      <a:r>
                        <a:t>41.2</a:t>
                      </a:r>
                    </a:p>
                  </a:txBody>
                  <a:tcPr>
                    <a:solidFill>
                      <a:srgbClr val="F5F8F6"/>
                    </a:solidFill>
                  </a:tcPr>
                </a:tc>
                <a:tc>
                  <a:txBody>
                    <a:bodyPr/>
                    <a:lstStyle/>
                    <a:p>
                      <a:pPr>
                        <a:defRPr sz="850">
                          <a:solidFill>
                            <a:srgbClr val="182620"/>
                          </a:solidFill>
                        </a:defRPr>
                      </a:pPr>
                      <a:r>
                        <a:t>Severe drought &amp; heat stress shock</a:t>
                      </a:r>
                    </a:p>
                  </a:txBody>
                  <a:tcPr>
                    <a:solidFill>
                      <a:srgbClr val="F5F8F6"/>
                    </a:solidFill>
                  </a:tcPr>
                </a:tc>
              </a:tr>
              <a:tr h="350520">
                <a:tc>
                  <a:txBody>
                    <a:bodyPr/>
                    <a:lstStyle/>
                    <a:p>
                      <a:pPr>
                        <a:defRPr sz="850">
                          <a:solidFill>
                            <a:srgbClr val="182620"/>
                          </a:solidFill>
                        </a:defRPr>
                      </a:pPr>
                      <a:r>
                        <a:t>Ames, IA</a:t>
                      </a:r>
                    </a:p>
                  </a:txBody>
                  <a:tcPr>
                    <a:solidFill>
                      <a:srgbClr val="FFFFFF"/>
                    </a:solidFill>
                  </a:tcPr>
                </a:tc>
                <a:tc>
                  <a:txBody>
                    <a:bodyPr/>
                    <a:lstStyle/>
                    <a:p>
                      <a:pPr>
                        <a:defRPr sz="850">
                          <a:solidFill>
                            <a:srgbClr val="182620"/>
                          </a:solidFill>
                        </a:defRPr>
                      </a:pPr>
                      <a:r>
                        <a:t>487</a:t>
                      </a:r>
                    </a:p>
                  </a:txBody>
                  <a:tcPr>
                    <a:solidFill>
                      <a:srgbClr val="FFFFFF"/>
                    </a:solidFill>
                  </a:tcPr>
                </a:tc>
                <a:tc>
                  <a:txBody>
                    <a:bodyPr/>
                    <a:lstStyle/>
                    <a:p>
                      <a:pPr>
                        <a:defRPr sz="850" b="1">
                          <a:solidFill>
                            <a:srgbClr val="182620"/>
                          </a:solidFill>
                        </a:defRPr>
                      </a:pPr>
                      <a:r>
                        <a:t>130.3</a:t>
                      </a:r>
                    </a:p>
                  </a:txBody>
                  <a:tcPr>
                    <a:solidFill>
                      <a:srgbClr val="FFFFFF"/>
                    </a:solidFill>
                  </a:tcPr>
                </a:tc>
                <a:tc>
                  <a:txBody>
                    <a:bodyPr/>
                    <a:lstStyle/>
                    <a:p>
                      <a:pPr>
                        <a:defRPr sz="850">
                          <a:solidFill>
                            <a:srgbClr val="182620"/>
                          </a:solidFill>
                        </a:defRPr>
                      </a:pPr>
                      <a:r>
                        <a:t>Prime Central Corn Belt loam soil</a:t>
                      </a:r>
                    </a:p>
                  </a:txBody>
                  <a:tcPr>
                    <a:solidFill>
                      <a:srgbClr val="FFFFFF"/>
                    </a:solidFill>
                  </a:tcPr>
                </a:tc>
              </a:tr>
              <a:tr h="350520">
                <a:tc>
                  <a:txBody>
                    <a:bodyPr/>
                    <a:lstStyle/>
                    <a:p>
                      <a:pPr>
                        <a:defRPr sz="850">
                          <a:solidFill>
                            <a:srgbClr val="182620"/>
                          </a:solidFill>
                        </a:defRPr>
                      </a:pPr>
                      <a:r>
                        <a:t>Missouri Valley, IA</a:t>
                      </a:r>
                    </a:p>
                  </a:txBody>
                  <a:tcPr>
                    <a:solidFill>
                      <a:srgbClr val="F5F8F6"/>
                    </a:solidFill>
                  </a:tcPr>
                </a:tc>
                <a:tc>
                  <a:txBody>
                    <a:bodyPr/>
                    <a:lstStyle/>
                    <a:p>
                      <a:pPr>
                        <a:defRPr sz="850">
                          <a:solidFill>
                            <a:srgbClr val="182620"/>
                          </a:solidFill>
                        </a:defRPr>
                      </a:pPr>
                      <a:r>
                        <a:t>163</a:t>
                      </a:r>
                    </a:p>
                  </a:txBody>
                  <a:tcPr>
                    <a:solidFill>
                      <a:srgbClr val="F5F8F6"/>
                    </a:solidFill>
                  </a:tcPr>
                </a:tc>
                <a:tc>
                  <a:txBody>
                    <a:bodyPr/>
                    <a:lstStyle/>
                    <a:p>
                      <a:pPr>
                        <a:defRPr sz="850" b="1">
                          <a:solidFill>
                            <a:srgbClr val="182620"/>
                          </a:solidFill>
                        </a:defRPr>
                      </a:pPr>
                      <a:r>
                        <a:t>152.5</a:t>
                      </a:r>
                    </a:p>
                  </a:txBody>
                  <a:tcPr>
                    <a:solidFill>
                      <a:srgbClr val="F5F8F6"/>
                    </a:solidFill>
                  </a:tcPr>
                </a:tc>
                <a:tc>
                  <a:txBody>
                    <a:bodyPr/>
                    <a:lstStyle/>
                    <a:p>
                      <a:pPr>
                        <a:defRPr sz="850">
                          <a:solidFill>
                            <a:srgbClr val="182620"/>
                          </a:solidFill>
                        </a:defRPr>
                      </a:pPr>
                      <a:r>
                        <a:t>River valley fertile alluvial soil</a:t>
                      </a:r>
                    </a:p>
                  </a:txBody>
                  <a:tcPr>
                    <a:solidFill>
                      <a:srgbClr val="F5F8F6"/>
                    </a:solidFill>
                  </a:tcPr>
                </a:tc>
              </a:tr>
              <a:tr h="350520">
                <a:tc>
                  <a:txBody>
                    <a:bodyPr/>
                    <a:lstStyle/>
                    <a:p>
                      <a:pPr>
                        <a:defRPr sz="850">
                          <a:solidFill>
                            <a:srgbClr val="182620"/>
                          </a:solidFill>
                        </a:defRPr>
                      </a:pPr>
                      <a:r>
                        <a:t>Crawfordsville, IN</a:t>
                      </a:r>
                    </a:p>
                  </a:txBody>
                  <a:tcPr>
                    <a:solidFill>
                      <a:srgbClr val="FFFFFF"/>
                    </a:solidFill>
                  </a:tcPr>
                </a:tc>
                <a:tc>
                  <a:txBody>
                    <a:bodyPr/>
                    <a:lstStyle/>
                    <a:p>
                      <a:pPr>
                        <a:defRPr sz="850">
                          <a:solidFill>
                            <a:srgbClr val="182620"/>
                          </a:solidFill>
                        </a:defRPr>
                      </a:pPr>
                      <a:r>
                        <a:t>488</a:t>
                      </a:r>
                    </a:p>
                  </a:txBody>
                  <a:tcPr>
                    <a:solidFill>
                      <a:srgbClr val="FFFFFF"/>
                    </a:solidFill>
                  </a:tcPr>
                </a:tc>
                <a:tc>
                  <a:txBody>
                    <a:bodyPr/>
                    <a:lstStyle/>
                    <a:p>
                      <a:pPr>
                        <a:defRPr sz="850" b="1">
                          <a:solidFill>
                            <a:srgbClr val="182620"/>
                          </a:solidFill>
                        </a:defRPr>
                      </a:pPr>
                      <a:r>
                        <a:t>165.1</a:t>
                      </a:r>
                    </a:p>
                  </a:txBody>
                  <a:tcPr>
                    <a:solidFill>
                      <a:srgbClr val="FFFFFF"/>
                    </a:solidFill>
                  </a:tcPr>
                </a:tc>
                <a:tc>
                  <a:txBody>
                    <a:bodyPr/>
                    <a:lstStyle/>
                    <a:p>
                      <a:pPr>
                        <a:defRPr sz="850">
                          <a:solidFill>
                            <a:srgbClr val="182620"/>
                          </a:solidFill>
                        </a:defRPr>
                      </a:pPr>
                      <a:r>
                        <a:t>Held-out unseen test site (high yield)</a:t>
                      </a:r>
                    </a:p>
                  </a:txBody>
                  <a:tcPr>
                    <a:solidFill>
                      <a:srgbClr val="FFFFFF"/>
                    </a:solidFill>
                  </a:tcPr>
                </a:tc>
              </a:tr>
            </a:tbl>
          </a:graphicData>
        </a:graphic>
      </p:graphicFrame>
      <p:sp>
        <p:nvSpPr>
          <p:cNvPr id="7" name="Rounded Rectangle 6"/>
          <p:cNvSpPr/>
          <p:nvPr/>
        </p:nvSpPr>
        <p:spPr>
          <a:xfrm>
            <a:off x="7132320" y="1645920"/>
            <a:ext cx="4297680" cy="4754880"/>
          </a:xfrm>
          <a:prstGeom prst="roundRect">
            <a:avLst/>
          </a:prstGeom>
          <a:solidFill>
            <a:srgbClr val="FFFFFF"/>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200">
                <a:solidFill>
                  <a:srgbClr val="2E7D32"/>
                </a:solidFill>
              </a:defRPr>
            </a:pPr>
            <a:r>
              <a:t>2. Two Primary Data Modalities</a:t>
            </a:r>
          </a:p>
          <a:p>
            <a:pPr>
              <a:spcBef>
                <a:spcPts val="400"/>
              </a:spcBef>
            </a:pPr>
            <a:r>
              <a:rPr b="1" sz="950">
                <a:solidFill>
                  <a:srgbClr val="0F2D24"/>
                </a:solidFill>
              </a:rPr>
              <a:t>A. Multi-Temporal Drone Imagery: </a:t>
            </a:r>
            <a:r>
              <a:rPr sz="900">
                <a:solidFill>
                  <a:srgbClr val="182620"/>
                </a:solidFill>
              </a:rPr>
              <a:t>Ultra-high-resolution RGB orthomosaics cropped to individual 4-row plots (.PNG format) captured across 3 growth milestones:</a:t>
            </a:r>
          </a:p>
          <a:p>
            <a:pPr>
              <a:spcBef>
                <a:spcPts val="400"/>
              </a:spcBef>
            </a:pPr>
            <a:r>
              <a:rPr b="1" sz="950">
                <a:solidFill>
                  <a:srgbClr val="182620"/>
                </a:solidFill>
              </a:rPr>
              <a:t>• TP1 (Early Vegetative / V4–V6): </a:t>
            </a:r>
            <a:r>
              <a:rPr sz="900">
                <a:solidFill>
                  <a:srgbClr val="182620"/>
                </a:solidFill>
              </a:rPr>
              <a:t>Seedling emergence, plant stand count, early vigor.</a:t>
            </a:r>
          </a:p>
          <a:p>
            <a:pPr>
              <a:spcBef>
                <a:spcPts val="400"/>
              </a:spcBef>
            </a:pPr>
            <a:r>
              <a:rPr b="1" sz="950">
                <a:solidFill>
                  <a:srgbClr val="182620"/>
                </a:solidFill>
              </a:rPr>
              <a:t>• TP2 (Canopy Closure / V10–V12): </a:t>
            </a:r>
            <a:r>
              <a:rPr sz="900">
                <a:solidFill>
                  <a:srgbClr val="182620"/>
                </a:solidFill>
              </a:rPr>
              <a:t>Peak vegetative biomass, maximum leaf area cover.</a:t>
            </a:r>
          </a:p>
          <a:p>
            <a:pPr>
              <a:spcBef>
                <a:spcPts val="400"/>
              </a:spcBef>
            </a:pPr>
            <a:r>
              <a:rPr b="1" sz="950">
                <a:solidFill>
                  <a:srgbClr val="182620"/>
                </a:solidFill>
              </a:rPr>
              <a:t>• TP3 (Flowering / R1 Tasseling): </a:t>
            </a:r>
            <a:r>
              <a:rPr sz="900">
                <a:solidFill>
                  <a:srgbClr val="182620"/>
                </a:solidFill>
              </a:rPr>
              <a:t>Anthesis, pollen shed, reproductive potential.</a:t>
            </a:r>
          </a:p>
          <a:p>
            <a:pPr>
              <a:spcBef>
                <a:spcPts val="400"/>
              </a:spcBef>
            </a:pPr>
            <a:r>
              <a:rPr b="1" sz="950">
                <a:solidFill>
                  <a:srgbClr val="0F2D24"/>
                </a:solidFill>
              </a:rPr>
              <a:t>B. Ground Truth Agronomic CSV: </a:t>
            </a:r>
            <a:r>
              <a:rPr sz="900">
                <a:solidFill>
                  <a:srgbClr val="182620"/>
                </a:solidFill>
              </a:rPr>
              <a:t>Measured combine harvest metrics:</a:t>
            </a:r>
          </a:p>
          <a:p>
            <a:pPr>
              <a:spcBef>
                <a:spcPts val="400"/>
              </a:spcBef>
            </a:pPr>
            <a:r>
              <a:rPr b="1" sz="950">
                <a:solidFill>
                  <a:srgbClr val="182620"/>
                </a:solidFill>
              </a:rPr>
              <a:t>• Target (yieldPerAcre): </a:t>
            </a:r>
            <a:r>
              <a:rPr sz="900">
                <a:solidFill>
                  <a:srgbClr val="182620"/>
                </a:solidFill>
              </a:rPr>
              <a:t>Grain yield in bu/ac corrected to 15.5% moisture.</a:t>
            </a:r>
          </a:p>
          <a:p>
            <a:pPr>
              <a:spcBef>
                <a:spcPts val="400"/>
              </a:spcBef>
            </a:pPr>
            <a:r>
              <a:rPr b="1" sz="950">
                <a:solidFill>
                  <a:srgbClr val="182620"/>
                </a:solidFill>
              </a:rPr>
              <a:t>• Plant Stand (totalStandCount): </a:t>
            </a:r>
            <a:r>
              <a:rPr sz="900">
                <a:solidFill>
                  <a:srgbClr val="182620"/>
                </a:solidFill>
              </a:rPr>
              <a:t>Living plant count in middle two plot rows.</a:t>
            </a:r>
          </a:p>
          <a:p>
            <a:pPr>
              <a:spcBef>
                <a:spcPts val="400"/>
              </a:spcBef>
            </a:pPr>
            <a:r>
              <a:rPr b="1" sz="950">
                <a:solidFill>
                  <a:srgbClr val="182620"/>
                </a:solidFill>
              </a:rPr>
              <a:t>• Crop Phenology &amp; Genetics: </a:t>
            </a:r>
            <a:r>
              <a:rPr sz="900">
                <a:solidFill>
                  <a:srgbClr val="182620"/>
                </a:solidFill>
              </a:rPr>
              <a:t>GDD to anthesis + hybrid parentage pedigree (female x male inbred lines).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DATA ENGINEERING • PREPROCESSING &amp; REPRESENTATION</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Data Preprocessing &amp; Multi-Space Representation</a:t>
            </a:r>
          </a:p>
          <a:p>
            <a:pPr>
              <a:spcBef>
                <a:spcPts val="300"/>
              </a:spcBef>
              <a:defRPr sz="1150">
                <a:solidFill>
                  <a:srgbClr val="55695F"/>
                </a:solidFill>
                <a:latin typeface="Calibri"/>
              </a:defRPr>
            </a:pPr>
            <a:r>
              <a:t>Eliminating edge artifacts, preventing data leakage, and constructing rich feature spaces</a:t>
            </a:r>
          </a:p>
        </p:txBody>
      </p:sp>
      <p:sp>
        <p:nvSpPr>
          <p:cNvPr id="5" name="Rounded Rectangle 4"/>
          <p:cNvSpPr/>
          <p:nvPr/>
        </p:nvSpPr>
        <p:spPr>
          <a:xfrm>
            <a:off x="731520" y="164592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300">
                <a:solidFill>
                  <a:srgbClr val="0F2D24"/>
                </a:solidFill>
              </a:defRPr>
            </a:pPr>
            <a:r>
              <a:t>1. Data Preprocessing Techniques</a:t>
            </a:r>
          </a:p>
          <a:p>
            <a:pPr>
              <a:spcBef>
                <a:spcPts val="800"/>
              </a:spcBef>
            </a:pPr>
            <a:r>
              <a:rPr b="1" sz="1000">
                <a:solidFill>
                  <a:srgbClr val="0F2D24"/>
                </a:solidFill>
              </a:rPr>
              <a:t>• Image Quality Audit &amp; Filtering: </a:t>
            </a:r>
            <a:r>
              <a:rPr sz="950">
                <a:solidFill>
                  <a:srgbClr val="182620"/>
                </a:solidFill>
              </a:rPr>
              <a:t>Automated screening for corrupted image headers, all-black segmented tiles, and optical blur. Aligned filenames with harvest records, dropping unmatched rows.</a:t>
            </a:r>
          </a:p>
          <a:p>
            <a:pPr>
              <a:spcBef>
                <a:spcPts val="800"/>
              </a:spcBef>
            </a:pPr>
            <a:r>
              <a:rPr b="1" sz="1000">
                <a:solidFill>
                  <a:srgbClr val="0F2D24"/>
                </a:solidFill>
              </a:rPr>
              <a:t>• Replication-Padded Patch Tiling (224x224): </a:t>
            </a:r>
            <a:r>
              <a:rPr sz="950">
                <a:solidFill>
                  <a:srgbClr val="182620"/>
                </a:solidFill>
              </a:rPr>
              <a:t>Variable plot bounding boxes diced into uniform 224x224 patches using cv2.BORDER_REPLICATE. Preserved outer canopy leaves without artificial black zero-padding borders.</a:t>
            </a:r>
          </a:p>
          <a:p>
            <a:pPr>
              <a:spcBef>
                <a:spcPts val="800"/>
              </a:spcBef>
            </a:pPr>
            <a:r>
              <a:rPr b="1" sz="1000">
                <a:solidFill>
                  <a:srgbClr val="0F2D24"/>
                </a:solidFill>
              </a:rPr>
              <a:t>• Strict Plot-Level Anti-Leakage Splitting: </a:t>
            </a:r>
            <a:r>
              <a:rPr sz="950">
                <a:solidFill>
                  <a:srgbClr val="182620"/>
                </a:solidFill>
              </a:rPr>
              <a:t>Guaranteed all 3 seasonal flights (TP1, TP2, TP3) for any plot stayed strictly within the same data split. Never trained on TP1 and tested on TP3 of the same plot!</a:t>
            </a:r>
          </a:p>
          <a:p>
            <a:pPr>
              <a:spcBef>
                <a:spcPts val="800"/>
              </a:spcBef>
            </a:pPr>
            <a:r>
              <a:rPr b="1" sz="1000">
                <a:solidFill>
                  <a:srgbClr val="0F2D24"/>
                </a:solidFill>
              </a:rPr>
              <a:t>• Tabular Imputation &amp; Flight-Level Z-Scoring: </a:t>
            </a:r>
            <a:r>
              <a:rPr sz="950">
                <a:solidFill>
                  <a:srgbClr val="182620"/>
                </a:solidFill>
              </a:rPr>
              <a:t>Median imputation for stand counts and planting dates. Normalized solar elevation and cloud illumination shifts via flight-level z-scoring.</a:t>
            </a:r>
          </a:p>
        </p:txBody>
      </p:sp>
      <p:sp>
        <p:nvSpPr>
          <p:cNvPr id="6" name="Rounded Rectangle 5"/>
          <p:cNvSpPr/>
          <p:nvPr/>
        </p:nvSpPr>
        <p:spPr>
          <a:xfrm>
            <a:off x="6217920" y="1645920"/>
            <a:ext cx="5212080" cy="4754880"/>
          </a:xfrm>
          <a:prstGeom prst="roundRect">
            <a:avLst/>
          </a:prstGeom>
          <a:solidFill>
            <a:srgbClr val="FFFFFF"/>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300">
                <a:solidFill>
                  <a:srgbClr val="2E7D32"/>
                </a:solidFill>
              </a:defRPr>
            </a:pPr>
            <a:r>
              <a:t>2. Four Numerical Feature Representation Spaces</a:t>
            </a:r>
          </a:p>
          <a:p>
            <a:pPr>
              <a:spcBef>
                <a:spcPts val="800"/>
              </a:spcBef>
            </a:pPr>
            <a:r>
              <a:rPr b="1" sz="1000">
                <a:solidFill>
                  <a:srgbClr val="2E7D32"/>
                </a:solidFill>
              </a:rPr>
              <a:t>• A. Deep Latent Vision Space (R¹²⁸⁰): </a:t>
            </a:r>
            <a:r>
              <a:rPr sz="950">
                <a:solidFill>
                  <a:srgbClr val="182620"/>
                </a:solidFill>
              </a:rPr>
              <a:t>Fine-tuned EfficientNet-B0 maps each 224x224 patch into a 1,280-D vector. Mean and standard deviation pooling aggregate patches into a plot-level visual fingerprint.</a:t>
            </a:r>
          </a:p>
          <a:p>
            <a:pPr>
              <a:spcBef>
                <a:spcPts val="800"/>
              </a:spcBef>
            </a:pPr>
            <a:r>
              <a:rPr b="1" sz="1000">
                <a:solidFill>
                  <a:srgbClr val="2E7D32"/>
                </a:solidFill>
              </a:rPr>
              <a:t>• B. Biophysical Canopy Indices (R¹² per flight): </a:t>
            </a:r>
            <a:r>
              <a:rPr sz="950">
                <a:solidFill>
                  <a:srgbClr val="182620"/>
                </a:solidFill>
              </a:rPr>
              <a:t>Calculates physiological vegetation metrics: Excess Green (ExG = 2G - R - B), VARI, NGRDI, Fractional Green Canopy Cover (FGCC), and yellow tassel senescence fraction.</a:t>
            </a:r>
          </a:p>
          <a:p>
            <a:pPr>
              <a:spcBef>
                <a:spcPts val="800"/>
              </a:spcBef>
            </a:pPr>
            <a:r>
              <a:rPr b="1" sz="1000">
                <a:solidFill>
                  <a:srgbClr val="2E7D32"/>
                </a:solidFill>
              </a:rPr>
              <a:t>• C. Multi-Temporal Dynamic Vectors: </a:t>
            </a:r>
            <a:r>
              <a:rPr sz="950">
                <a:solidFill>
                  <a:srgbClr val="182620"/>
                </a:solidFill>
              </a:rPr>
              <a:t>Growth velocity vectors (ΔTP2-TP1, ΔTP3-TP2) measuring the rate of canopy expansion and speed of reproductive maturation.</a:t>
            </a:r>
          </a:p>
          <a:p>
            <a:pPr>
              <a:spcBef>
                <a:spcPts val="800"/>
              </a:spcBef>
            </a:pPr>
            <a:r>
              <a:rPr b="1" sz="1000">
                <a:solidFill>
                  <a:srgbClr val="2E7D32"/>
                </a:solidFill>
              </a:rPr>
              <a:t>• D. Genetic &amp; Spatial Representation: </a:t>
            </a:r>
            <a:r>
              <a:rPr sz="950">
                <a:solidFill>
                  <a:srgbClr val="182620"/>
                </a:solidFill>
              </a:rPr>
              <a:t>Parental pedigree deconstruction into GCA/SCA proxy effects, plus 2D spatial kriging surfaces converting range and row coordinates into micro-soil fertility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EXPLORATORY DATA ANALYSIS • PATTERNS &amp; INSIGHTS</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Exploratory Data Analysis &amp; Empirical Discoveries</a:t>
            </a:r>
          </a:p>
          <a:p>
            <a:pPr>
              <a:spcBef>
                <a:spcPts val="300"/>
              </a:spcBef>
              <a:defRPr sz="1150">
                <a:solidFill>
                  <a:srgbClr val="55695F"/>
                </a:solidFill>
                <a:latin typeface="Calibri"/>
              </a:defRPr>
            </a:pPr>
            <a:r>
              <a:t>Uncovering severe cross-site heterogeneity, temporal dynamics, and data completeness</a:t>
            </a:r>
          </a:p>
        </p:txBody>
      </p:sp>
      <p:sp>
        <p:nvSpPr>
          <p:cNvPr id="5" name="Rounded Rectangle 4"/>
          <p:cNvSpPr/>
          <p:nvPr/>
        </p:nvSpPr>
        <p:spPr>
          <a:xfrm>
            <a:off x="731520" y="1645920"/>
            <a:ext cx="2971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b="1" sz="1100">
                <a:solidFill>
                  <a:srgbClr val="0F2D24"/>
                </a:solidFill>
              </a:defRPr>
            </a:pPr>
            <a:r>
              <a:t>1. Cross-Site Heterogeneity</a:t>
            </a:r>
          </a:p>
          <a:p>
            <a:pPr>
              <a:spcBef>
                <a:spcPts val="300"/>
              </a:spcBef>
            </a:pPr>
            <a:r>
              <a:rPr b="1" sz="850">
                <a:solidFill>
                  <a:srgbClr val="0F2D24"/>
                </a:solidFill>
              </a:rPr>
              <a:t>• Lincoln NE (41.2 bu/ac): </a:t>
            </a:r>
            <a:r>
              <a:rPr sz="800">
                <a:solidFill>
                  <a:srgbClr val="182620"/>
                </a:solidFill>
              </a:rPr>
              <a:t>Severe drought shock.</a:t>
            </a:r>
          </a:p>
          <a:p>
            <a:pPr>
              <a:spcBef>
                <a:spcPts val="300"/>
              </a:spcBef>
            </a:pPr>
            <a:r>
              <a:rPr b="1" sz="850">
                <a:solidFill>
                  <a:srgbClr val="0F2D24"/>
                </a:solidFill>
              </a:rPr>
              <a:t>• Crawfordsville IN (165.1 bu/ac): </a:t>
            </a:r>
            <a:r>
              <a:rPr sz="800">
                <a:solidFill>
                  <a:srgbClr val="182620"/>
                </a:solidFill>
              </a:rPr>
              <a:t>High-fertility soil.</a:t>
            </a:r>
          </a:p>
          <a:p>
            <a:pPr>
              <a:spcBef>
                <a:spcPts val="300"/>
              </a:spcBef>
            </a:pPr>
            <a:r>
              <a:rPr b="1" sz="850">
                <a:solidFill>
                  <a:srgbClr val="0F2D24"/>
                </a:solidFill>
              </a:rPr>
              <a:t>• Key Takeaway: </a:t>
            </a:r>
            <a:r>
              <a:rPr sz="800">
                <a:solidFill>
                  <a:srgbClr val="182620"/>
                </a:solidFill>
              </a:rPr>
              <a:t>Global models fail without field baseline anchoring.</a:t>
            </a:r>
          </a:p>
        </p:txBody>
      </p:sp>
      <p:sp>
        <p:nvSpPr>
          <p:cNvPr id="6" name="Rounded Rectangle 5"/>
          <p:cNvSpPr/>
          <p:nvPr/>
        </p:nvSpPr>
        <p:spPr>
          <a:xfrm>
            <a:off x="3886200" y="1645920"/>
            <a:ext cx="2971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b="1" sz="1100">
                <a:solidFill>
                  <a:srgbClr val="2E7D32"/>
                </a:solidFill>
              </a:defRPr>
            </a:pPr>
            <a:r>
              <a:t>2. Data Completeness</a:t>
            </a:r>
          </a:p>
          <a:p>
            <a:pPr>
              <a:spcBef>
                <a:spcPts val="300"/>
              </a:spcBef>
            </a:pPr>
            <a:r>
              <a:rPr b="1" sz="850">
                <a:solidFill>
                  <a:srgbClr val="2E7D32"/>
                </a:solidFill>
              </a:rPr>
              <a:t>• 7,281 Raw Files: </a:t>
            </a:r>
            <a:r>
              <a:rPr sz="800">
                <a:solidFill>
                  <a:srgbClr val="182620"/>
                </a:solidFill>
              </a:rPr>
              <a:t>Filtered corrupt &amp; blurred PNGs.</a:t>
            </a:r>
          </a:p>
          <a:p>
            <a:pPr>
              <a:spcBef>
                <a:spcPts val="300"/>
              </a:spcBef>
            </a:pPr>
            <a:r>
              <a:rPr b="1" sz="850">
                <a:solidFill>
                  <a:srgbClr val="2E7D32"/>
                </a:solidFill>
              </a:rPr>
              <a:t>• 2,131 Valid Plots: </a:t>
            </a:r>
            <a:r>
              <a:rPr sz="800">
                <a:solidFill>
                  <a:srgbClr val="182620"/>
                </a:solidFill>
              </a:rPr>
              <a:t>Locked across all 3 flights.</a:t>
            </a:r>
          </a:p>
          <a:p>
            <a:pPr>
              <a:spcBef>
                <a:spcPts val="300"/>
              </a:spcBef>
            </a:pPr>
            <a:r>
              <a:rPr b="1" sz="850">
                <a:solidFill>
                  <a:srgbClr val="2E7D32"/>
                </a:solidFill>
              </a:rPr>
              <a:t>• 6,393 Images: </a:t>
            </a:r>
            <a:r>
              <a:rPr sz="800">
                <a:solidFill>
                  <a:srgbClr val="182620"/>
                </a:solidFill>
              </a:rPr>
              <a:t>Complete verified multi-temporal sequences.</a:t>
            </a:r>
          </a:p>
        </p:txBody>
      </p:sp>
      <p:sp>
        <p:nvSpPr>
          <p:cNvPr id="7" name="Rounded Rectangle 6"/>
          <p:cNvSpPr/>
          <p:nvPr/>
        </p:nvSpPr>
        <p:spPr>
          <a:xfrm>
            <a:off x="731520" y="4069080"/>
            <a:ext cx="2971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b="1" sz="1100">
                <a:solidFill>
                  <a:srgbClr val="E5A93C"/>
                </a:solidFill>
              </a:defRPr>
            </a:pPr>
            <a:r>
              <a:t>3. Temporal Canopy Growth</a:t>
            </a:r>
          </a:p>
          <a:p>
            <a:pPr>
              <a:spcBef>
                <a:spcPts val="300"/>
              </a:spcBef>
            </a:pPr>
            <a:r>
              <a:rPr b="1" sz="850">
                <a:solidFill>
                  <a:srgbClr val="E5A93C"/>
                </a:solidFill>
              </a:rPr>
              <a:t>• TP1 Emergence: </a:t>
            </a:r>
            <a:r>
              <a:rPr sz="800">
                <a:solidFill>
                  <a:srgbClr val="182620"/>
                </a:solidFill>
              </a:rPr>
              <a:t>Soil &gt;80%; stand count dictates vigor.</a:t>
            </a:r>
          </a:p>
          <a:p>
            <a:pPr>
              <a:spcBef>
                <a:spcPts val="300"/>
              </a:spcBef>
            </a:pPr>
            <a:r>
              <a:rPr b="1" sz="850">
                <a:solidFill>
                  <a:srgbClr val="E5A93C"/>
                </a:solidFill>
              </a:rPr>
              <a:t>• TP2 Closure: </a:t>
            </a:r>
            <a:r>
              <a:rPr sz="800">
                <a:solidFill>
                  <a:srgbClr val="182620"/>
                </a:solidFill>
              </a:rPr>
              <a:t>Leaf cover &gt;70%; peak ExG &amp; VARI.</a:t>
            </a:r>
          </a:p>
          <a:p>
            <a:pPr>
              <a:spcBef>
                <a:spcPts val="300"/>
              </a:spcBef>
            </a:pPr>
            <a:r>
              <a:rPr b="1" sz="850">
                <a:solidFill>
                  <a:srgbClr val="E5A93C"/>
                </a:solidFill>
              </a:rPr>
              <a:t>• TP3 Flowering: </a:t>
            </a:r>
            <a:r>
              <a:rPr sz="800">
                <a:solidFill>
                  <a:srgbClr val="182620"/>
                </a:solidFill>
              </a:rPr>
              <a:t>Tassel emergence exhibits strongest yield correlation.</a:t>
            </a:r>
          </a:p>
        </p:txBody>
      </p:sp>
      <p:sp>
        <p:nvSpPr>
          <p:cNvPr id="8" name="Rounded Rectangle 7"/>
          <p:cNvSpPr/>
          <p:nvPr/>
        </p:nvSpPr>
        <p:spPr>
          <a:xfrm>
            <a:off x="3886200" y="4069080"/>
            <a:ext cx="2971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b="1" sz="1100">
                <a:solidFill>
                  <a:srgbClr val="0F2D24"/>
                </a:solidFill>
              </a:defRPr>
            </a:pPr>
            <a:r>
              <a:t>4. Edge Artifact Analysis</a:t>
            </a:r>
          </a:p>
          <a:p>
            <a:pPr>
              <a:spcBef>
                <a:spcPts val="400"/>
              </a:spcBef>
            </a:pPr>
            <a:r>
              <a:rPr b="1" sz="850">
                <a:solidFill>
                  <a:srgbClr val="0F2D24"/>
                </a:solidFill>
              </a:rPr>
              <a:t>• Zero-Padding Artifacts: </a:t>
            </a:r>
            <a:r>
              <a:rPr sz="800">
                <a:solidFill>
                  <a:srgbClr val="182620"/>
                </a:solidFill>
              </a:rPr>
              <a:t>Black borders corrupted CNN edge filters.</a:t>
            </a:r>
          </a:p>
          <a:p>
            <a:pPr>
              <a:spcBef>
                <a:spcPts val="400"/>
              </a:spcBef>
            </a:pPr>
            <a:r>
              <a:rPr b="1" sz="850">
                <a:solidFill>
                  <a:srgbClr val="0F2D24"/>
                </a:solidFill>
              </a:rPr>
              <a:t>• Replication Padding: </a:t>
            </a:r>
            <a:r>
              <a:rPr sz="800">
                <a:solidFill>
                  <a:srgbClr val="182620"/>
                </a:solidFill>
              </a:rPr>
              <a:t>Preserved true canopy margins &amp; leaf density smoothly.</a:t>
            </a:r>
          </a:p>
        </p:txBody>
      </p:sp>
      <p:pic>
        <p:nvPicPr>
          <p:cNvPr id="9" name="Picture 8" descr="UAV Maize Dataset Audit Dashboard.png"/>
          <p:cNvPicPr>
            <a:picLocks noChangeAspect="1"/>
          </p:cNvPicPr>
          <p:nvPr/>
        </p:nvPicPr>
        <p:blipFill>
          <a:blip r:embed="rId2"/>
          <a:stretch>
            <a:fillRect/>
          </a:stretch>
        </p:blipFill>
        <p:spPr>
          <a:xfrm>
            <a:off x="7086600" y="1645920"/>
            <a:ext cx="4343400" cy="46634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DEEP LEARNING MECHANISMS • COMPUTER VISION</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How CNNs Work &amp; Their Role in MaizeSight</a:t>
            </a:r>
          </a:p>
          <a:p>
            <a:pPr>
              <a:spcBef>
                <a:spcPts val="300"/>
              </a:spcBef>
              <a:defRPr sz="1150">
                <a:solidFill>
                  <a:srgbClr val="55695F"/>
                </a:solidFill>
                <a:latin typeface="Calibri"/>
              </a:defRPr>
            </a:pPr>
            <a:r>
              <a:t>Spatial feature extraction, hierarchical feature learning, and fine-tuned EfficientNet-B0</a:t>
            </a:r>
          </a:p>
        </p:txBody>
      </p:sp>
      <p:pic>
        <p:nvPicPr>
          <p:cNvPr id="5" name="Picture 4" descr="cnn_pipeline_diagram.jpg"/>
          <p:cNvPicPr>
            <a:picLocks noChangeAspect="1"/>
          </p:cNvPicPr>
          <p:nvPr/>
        </p:nvPicPr>
        <p:blipFill>
          <a:blip r:embed="rId2"/>
          <a:stretch>
            <a:fillRect/>
          </a:stretch>
        </p:blipFill>
        <p:spPr>
          <a:xfrm>
            <a:off x="731520" y="1645920"/>
            <a:ext cx="10725912" cy="47091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MACHINE LEARNING MECHANISMS • GRADIENT BOOSTING</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How XGBoost Works &amp; Its Role in MaizeSight</a:t>
            </a:r>
          </a:p>
          <a:p>
            <a:pPr>
              <a:spcBef>
                <a:spcPts val="300"/>
              </a:spcBef>
              <a:defRPr sz="1150">
                <a:solidFill>
                  <a:srgbClr val="55695F"/>
                </a:solidFill>
                <a:latin typeface="Calibri"/>
              </a:defRPr>
            </a:pPr>
            <a:r>
              <a:t>Second-order Taylor optimization, regularized ensembles, and multimodal tabular fusion</a:t>
            </a:r>
          </a:p>
        </p:txBody>
      </p:sp>
      <p:pic>
        <p:nvPicPr>
          <p:cNvPr id="5" name="Picture 4" descr="xgboost_pipeline_diagram.jpg"/>
          <p:cNvPicPr>
            <a:picLocks noChangeAspect="1"/>
          </p:cNvPicPr>
          <p:nvPr/>
        </p:nvPicPr>
        <p:blipFill>
          <a:blip r:embed="rId2"/>
          <a:stretch>
            <a:fillRect/>
          </a:stretch>
        </p:blipFill>
        <p:spPr>
          <a:xfrm>
            <a:off x="731520" y="1645920"/>
            <a:ext cx="10725912" cy="47091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MODEL ARCHITECTURE • ALGORITHM SELECTION</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Algorithm Selection &amp; Architectural Ensembling</a:t>
            </a:r>
          </a:p>
          <a:p>
            <a:pPr>
              <a:spcBef>
                <a:spcPts val="300"/>
              </a:spcBef>
              <a:defRPr sz="1150">
                <a:solidFill>
                  <a:srgbClr val="55695F"/>
                </a:solidFill>
                <a:latin typeface="Calibri"/>
              </a:defRPr>
            </a:pPr>
            <a:r>
              <a:t>Balancing deep visual representations with regularized, multi-algorithmic ensembles</a:t>
            </a:r>
          </a:p>
        </p:txBody>
      </p:sp>
      <p:sp>
        <p:nvSpPr>
          <p:cNvPr id="5" name="Rounded Rectangle 4"/>
          <p:cNvSpPr/>
          <p:nvPr/>
        </p:nvSpPr>
        <p:spPr>
          <a:xfrm>
            <a:off x="731520" y="1645920"/>
            <a:ext cx="3364992"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200">
                <a:solidFill>
                  <a:srgbClr val="0F2D24"/>
                </a:solidFill>
              </a:defRPr>
            </a:pPr>
            <a:r>
              <a:t>1. Vision Backbone: EfficientNet-B0</a:t>
            </a:r>
          </a:p>
          <a:p>
            <a:pPr>
              <a:spcBef>
                <a:spcPts val="1000"/>
              </a:spcBef>
            </a:pPr>
            <a:r>
              <a:rPr b="1" sz="1000">
                <a:solidFill>
                  <a:srgbClr val="0F2D24"/>
                </a:solidFill>
              </a:rPr>
              <a:t>• Why EfficientNet-B0? </a:t>
            </a:r>
            <a:r>
              <a:rPr sz="950">
                <a:solidFill>
                  <a:srgbClr val="182620"/>
                </a:solidFill>
              </a:rPr>
              <a:t>Ideal parameter efficiency (5.3M params vs 25M in ResNet-50) using Compound Scaling. Prevents overfitting on agricultural trial plots.</a:t>
            </a:r>
          </a:p>
          <a:p>
            <a:pPr>
              <a:spcBef>
                <a:spcPts val="1000"/>
              </a:spcBef>
            </a:pPr>
            <a:r>
              <a:rPr b="1" sz="1000">
                <a:solidFill>
                  <a:srgbClr val="0F2D24"/>
                </a:solidFill>
              </a:rPr>
              <a:t>• Pre-Training &amp; Fine-Tuning: </a:t>
            </a:r>
            <a:r>
              <a:rPr sz="950">
                <a:solidFill>
                  <a:srgbClr val="182620"/>
                </a:solidFill>
              </a:rPr>
              <a:t>Pre-trained on ImageNet and fine-tuned end-to-end on multi-state maize plot patches.</a:t>
            </a:r>
          </a:p>
          <a:p>
            <a:pPr>
              <a:spcBef>
                <a:spcPts val="1000"/>
              </a:spcBef>
            </a:pPr>
            <a:r>
              <a:rPr b="1" sz="1000">
                <a:solidFill>
                  <a:srgbClr val="0F2D24"/>
                </a:solidFill>
              </a:rPr>
              <a:t>• 1,280-D Representation: </a:t>
            </a:r>
            <a:r>
              <a:rPr sz="950">
                <a:solidFill>
                  <a:srgbClr val="182620"/>
                </a:solidFill>
              </a:rPr>
              <a:t>Final 1,000-class head truncated to output dense continuous feature representations for downstream ensembles.</a:t>
            </a:r>
          </a:p>
        </p:txBody>
      </p:sp>
      <p:sp>
        <p:nvSpPr>
          <p:cNvPr id="6" name="Rounded Rectangle 5"/>
          <p:cNvSpPr/>
          <p:nvPr/>
        </p:nvSpPr>
        <p:spPr>
          <a:xfrm>
            <a:off x="4407408" y="1645920"/>
            <a:ext cx="3364992"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200">
                <a:solidFill>
                  <a:srgbClr val="2E7D32"/>
                </a:solidFill>
              </a:defRPr>
            </a:pPr>
            <a:r>
              <a:t>2. Tabular Regressors</a:t>
            </a:r>
          </a:p>
          <a:p>
            <a:pPr>
              <a:spcBef>
                <a:spcPts val="800"/>
              </a:spcBef>
            </a:pPr>
            <a:r>
              <a:rPr b="1" sz="1000">
                <a:solidFill>
                  <a:srgbClr val="2E7D32"/>
                </a:solidFill>
              </a:rPr>
              <a:t>• XGBoost Regressor: </a:t>
            </a:r>
            <a:r>
              <a:rPr sz="950">
                <a:solidFill>
                  <a:srgbClr val="182620"/>
                </a:solidFill>
              </a:rPr>
              <a:t>Primary engine with low learning rates (eta = 0.018 - 0.03) and shallow tree depths (D in [2,4]).</a:t>
            </a:r>
          </a:p>
          <a:p>
            <a:pPr>
              <a:spcBef>
                <a:spcPts val="800"/>
              </a:spcBef>
            </a:pPr>
            <a:r>
              <a:rPr b="1" sz="1000">
                <a:solidFill>
                  <a:srgbClr val="2E7D32"/>
                </a:solidFill>
              </a:rPr>
              <a:t>• ExtraTrees Regressor: </a:t>
            </a:r>
            <a:r>
              <a:rPr sz="950">
                <a:solidFill>
                  <a:srgbClr val="182620"/>
                </a:solidFill>
              </a:rPr>
              <a:t>Randomizes split thresholds across candidate features, suppressing variance from remote sensing noise.</a:t>
            </a:r>
          </a:p>
          <a:p>
            <a:pPr>
              <a:spcBef>
                <a:spcPts val="800"/>
              </a:spcBef>
            </a:pPr>
            <a:r>
              <a:rPr b="1" sz="1000">
                <a:solidFill>
                  <a:srgbClr val="2E7D32"/>
                </a:solidFill>
              </a:rPr>
              <a:t>• HistGradientBoosting: </a:t>
            </a:r>
            <a:r>
              <a:rPr sz="950">
                <a:solidFill>
                  <a:srgbClr val="182620"/>
                </a:solidFill>
              </a:rPr>
              <a:t>Binned integer splits (256 bins) providing complementary decision boundaries.</a:t>
            </a:r>
          </a:p>
          <a:p>
            <a:pPr>
              <a:spcBef>
                <a:spcPts val="800"/>
              </a:spcBef>
            </a:pPr>
            <a:r>
              <a:rPr b="1" sz="1000">
                <a:solidFill>
                  <a:srgbClr val="2E7D32"/>
                </a:solidFill>
              </a:rPr>
              <a:t>• RidgeCV (L2 Linear): </a:t>
            </a:r>
            <a:r>
              <a:rPr sz="950">
                <a:solidFill>
                  <a:srgbClr val="182620"/>
                </a:solidFill>
              </a:rPr>
              <a:t>Penalizes collinear canopy indices and establishes stable baseline predictions.</a:t>
            </a:r>
          </a:p>
        </p:txBody>
      </p:sp>
      <p:sp>
        <p:nvSpPr>
          <p:cNvPr id="7" name="Rounded Rectangle 6"/>
          <p:cNvSpPr/>
          <p:nvPr/>
        </p:nvSpPr>
        <p:spPr>
          <a:xfrm>
            <a:off x="8083296" y="1645920"/>
            <a:ext cx="3364992" cy="4754880"/>
          </a:xfrm>
          <a:prstGeom prst="roundRect">
            <a:avLst/>
          </a:prstGeom>
          <a:solidFill>
            <a:srgbClr val="FFFFFF"/>
          </a:solidFill>
          <a:ln w="12700">
            <a:solidFill>
              <a:srgbClr val="F6D28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200">
                <a:solidFill>
                  <a:srgbClr val="E5A93C"/>
                </a:solidFill>
              </a:defRPr>
            </a:pPr>
            <a:r>
              <a:t>3. Ensemble Architectures</a:t>
            </a:r>
          </a:p>
          <a:p>
            <a:pPr>
              <a:spcBef>
                <a:spcPts val="1000"/>
              </a:spcBef>
            </a:pPr>
            <a:r>
              <a:rPr b="1" sz="1000">
                <a:solidFill>
                  <a:srgbClr val="E5A93C"/>
                </a:solidFill>
              </a:rPr>
              <a:t>• Model 1 (Three-View Specialist): </a:t>
            </a:r>
            <a:r>
              <a:rPr sz="950">
                <a:solidFill>
                  <a:srgbClr val="182620"/>
                </a:solidFill>
              </a:rPr>
              <a:t>Blends Core View (113 features), Full View, and Physical Interaction View via learned meta-weights and gamma-variance calibration (R² = 0.8454).</a:t>
            </a:r>
          </a:p>
          <a:p>
            <a:pPr>
              <a:spcBef>
                <a:spcPts val="1000"/>
              </a:spcBef>
            </a:pPr>
            <a:r>
              <a:rPr b="1" sz="1000">
                <a:solidFill>
                  <a:srgbClr val="E5A93C"/>
                </a:solidFill>
              </a:rPr>
              <a:t>• Model 2 (Decoupled Generalist): </a:t>
            </a:r>
            <a:r>
              <a:rPr sz="950">
                <a:solidFill>
                  <a:srgbClr val="182620"/>
                </a:solidFill>
              </a:rPr>
              <a:t>Stage 1: Field Physical Anchor (estimates field baseline).
Stage 2: Within-Field Ranker (sorts high vs low yielding hybrids).
Stage 3: 15-plot Bayesian/median calibration.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EXPERIMENTAL METHODOLOGY • RIGOR &amp; VALIDATION</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Model Training &amp; Validation Methodology</a:t>
            </a:r>
          </a:p>
          <a:p>
            <a:pPr>
              <a:spcBef>
                <a:spcPts val="300"/>
              </a:spcBef>
              <a:defRPr sz="1150">
                <a:solidFill>
                  <a:srgbClr val="55695F"/>
                </a:solidFill>
                <a:latin typeface="Calibri"/>
              </a:defRPr>
            </a:pPr>
            <a:r>
              <a:t>Zero-leakage group splitting, dual validation schemes, and phased training workflow</a:t>
            </a:r>
          </a:p>
        </p:txBody>
      </p:sp>
      <p:pic>
        <p:nvPicPr>
          <p:cNvPr id="5" name="Picture 4" descr="training_pipeline_diagram.jpg"/>
          <p:cNvPicPr>
            <a:picLocks noChangeAspect="1"/>
          </p:cNvPicPr>
          <p:nvPr/>
        </p:nvPicPr>
        <p:blipFill>
          <a:blip r:embed="rId2"/>
          <a:stretch>
            <a:fillRect/>
          </a:stretch>
        </p:blipFill>
        <p:spPr>
          <a:xfrm>
            <a:off x="731520" y="1645920"/>
            <a:ext cx="10725912" cy="47091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SECTION V • RESULTS &amp; DISCUSSION</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Model 1 Results: Step-by-Step Performance Progression</a:t>
            </a:r>
          </a:p>
          <a:p>
            <a:pPr>
              <a:spcBef>
                <a:spcPts val="300"/>
              </a:spcBef>
              <a:defRPr sz="1150">
                <a:solidFill>
                  <a:srgbClr val="55695F"/>
                </a:solidFill>
                <a:latin typeface="Calibri"/>
              </a:defRPr>
            </a:pPr>
            <a:r>
              <a:t>Ablation study on 323 held-out test plots across all 5 monitored research locations</a:t>
            </a:r>
          </a:p>
        </p:txBody>
      </p:sp>
      <p:graphicFrame>
        <p:nvGraphicFramePr>
          <p:cNvPr id="5" name="Table 4"/>
          <p:cNvGraphicFramePr>
            <a:graphicFrameLocks noGrp="1"/>
          </p:cNvGraphicFramePr>
          <p:nvPr/>
        </p:nvGraphicFramePr>
        <p:xfrm>
          <a:off x="731520" y="1645920"/>
          <a:ext cx="6217920" cy="2011680"/>
        </p:xfrm>
        <a:graphic>
          <a:graphicData uri="http://schemas.openxmlformats.org/drawingml/2006/table">
            <a:tbl>
              <a:tblPr firstRow="1" bandRow="1">
                <a:tableStyleId>{5C22544A-7EE6-4342-B048-85BDC9FD1C3A}</a:tableStyleId>
              </a:tblPr>
              <a:tblGrid>
                <a:gridCol w="2286000"/>
                <a:gridCol w="1005840"/>
                <a:gridCol w="1280160"/>
                <a:gridCol w="1645920"/>
              </a:tblGrid>
              <a:tr h="335280">
                <a:tc>
                  <a:txBody>
                    <a:bodyPr/>
                    <a:lstStyle/>
                    <a:p>
                      <a:pPr>
                        <a:defRPr b="1" sz="900">
                          <a:solidFill>
                            <a:srgbClr val="FFFFFF"/>
                          </a:solidFill>
                        </a:defRPr>
                      </a:pPr>
                      <a:r>
                        <a:t>Progression Stage</a:t>
                      </a:r>
                    </a:p>
                  </a:txBody>
                  <a:tcPr>
                    <a:solidFill>
                      <a:srgbClr val="0F2D24"/>
                    </a:solidFill>
                  </a:tcPr>
                </a:tc>
                <a:tc>
                  <a:txBody>
                    <a:bodyPr/>
                    <a:lstStyle/>
                    <a:p>
                      <a:pPr>
                        <a:defRPr b="1" sz="900">
                          <a:solidFill>
                            <a:srgbClr val="FFFFFF"/>
                          </a:solidFill>
                        </a:defRPr>
                      </a:pPr>
                      <a:r>
                        <a:t>R² Score</a:t>
                      </a:r>
                    </a:p>
                  </a:txBody>
                  <a:tcPr>
                    <a:solidFill>
                      <a:srgbClr val="0F2D24"/>
                    </a:solidFill>
                  </a:tcPr>
                </a:tc>
                <a:tc>
                  <a:txBody>
                    <a:bodyPr/>
                    <a:lstStyle/>
                    <a:p>
                      <a:pPr>
                        <a:defRPr b="1" sz="900">
                          <a:solidFill>
                            <a:srgbClr val="FFFFFF"/>
                          </a:solidFill>
                        </a:defRPr>
                      </a:pPr>
                      <a:r>
                        <a:t>RMSE (bu/ac)</a:t>
                      </a:r>
                    </a:p>
                  </a:txBody>
                  <a:tcPr>
                    <a:solidFill>
                      <a:srgbClr val="0F2D24"/>
                    </a:solidFill>
                  </a:tcPr>
                </a:tc>
                <a:tc>
                  <a:txBody>
                    <a:bodyPr/>
                    <a:lstStyle/>
                    <a:p>
                      <a:pPr>
                        <a:defRPr b="1" sz="900">
                          <a:solidFill>
                            <a:srgbClr val="FFFFFF"/>
                          </a:solidFill>
                        </a:defRPr>
                      </a:pPr>
                      <a:r>
                        <a:t>Performance Gain</a:t>
                      </a:r>
                    </a:p>
                  </a:txBody>
                  <a:tcPr>
                    <a:solidFill>
                      <a:srgbClr val="0F2D24"/>
                    </a:solidFill>
                  </a:tcPr>
                </a:tc>
              </a:tr>
              <a:tr h="335280">
                <a:tc>
                  <a:txBody>
                    <a:bodyPr/>
                    <a:lstStyle/>
                    <a:p>
                      <a:pPr>
                        <a:defRPr sz="850">
                          <a:solidFill>
                            <a:srgbClr val="182620"/>
                          </a:solidFill>
                        </a:defRPr>
                      </a:pPr>
                      <a:r>
                        <a:t>Step 1: Raw TP3 Vision Model</a:t>
                      </a:r>
                    </a:p>
                  </a:txBody>
                  <a:tcPr>
                    <a:solidFill>
                      <a:srgbClr val="FFFFFF"/>
                    </a:solidFill>
                  </a:tcPr>
                </a:tc>
                <a:tc>
                  <a:txBody>
                    <a:bodyPr/>
                    <a:lstStyle/>
                    <a:p>
                      <a:pPr>
                        <a:defRPr sz="850" b="1">
                          <a:solidFill>
                            <a:srgbClr val="0F2D24"/>
                          </a:solidFill>
                        </a:defRPr>
                      </a:pPr>
                      <a:r>
                        <a:t>0.7940</a:t>
                      </a:r>
                    </a:p>
                  </a:txBody>
                  <a:tcPr>
                    <a:solidFill>
                      <a:srgbClr val="FFFFFF"/>
                    </a:solidFill>
                  </a:tcPr>
                </a:tc>
                <a:tc>
                  <a:txBody>
                    <a:bodyPr/>
                    <a:lstStyle/>
                    <a:p>
                      <a:pPr>
                        <a:defRPr sz="850">
                          <a:solidFill>
                            <a:srgbClr val="182620"/>
                          </a:solidFill>
                        </a:defRPr>
                      </a:pPr>
                      <a:r>
                        <a:t>24.11</a:t>
                      </a:r>
                    </a:p>
                  </a:txBody>
                  <a:tcPr>
                    <a:solidFill>
                      <a:srgbClr val="FFFFFF"/>
                    </a:solidFill>
                  </a:tcPr>
                </a:tc>
                <a:tc>
                  <a:txBody>
                    <a:bodyPr/>
                    <a:lstStyle/>
                    <a:p>
                      <a:pPr>
                        <a:defRPr sz="850">
                          <a:solidFill>
                            <a:srgbClr val="182620"/>
                          </a:solidFill>
                        </a:defRPr>
                      </a:pPr>
                      <a:r>
                        <a:t>Single-flight baseline</a:t>
                      </a:r>
                    </a:p>
                  </a:txBody>
                  <a:tcPr>
                    <a:solidFill>
                      <a:srgbClr val="FFFFFF"/>
                    </a:solidFill>
                  </a:tcPr>
                </a:tc>
              </a:tr>
              <a:tr h="335280">
                <a:tc>
                  <a:txBody>
                    <a:bodyPr/>
                    <a:lstStyle/>
                    <a:p>
                      <a:pPr>
                        <a:defRPr sz="850">
                          <a:solidFill>
                            <a:srgbClr val="182620"/>
                          </a:solidFill>
                        </a:defRPr>
                      </a:pPr>
                      <a:r>
                        <a:t>Step 2: Multiple Flights (TP1–TP3)</a:t>
                      </a:r>
                    </a:p>
                  </a:txBody>
                  <a:tcPr>
                    <a:solidFill>
                      <a:srgbClr val="F5F8F6"/>
                    </a:solidFill>
                  </a:tcPr>
                </a:tc>
                <a:tc>
                  <a:txBody>
                    <a:bodyPr/>
                    <a:lstStyle/>
                    <a:p>
                      <a:pPr>
                        <a:defRPr sz="850" b="1">
                          <a:solidFill>
                            <a:srgbClr val="0F2D24"/>
                          </a:solidFill>
                        </a:defRPr>
                      </a:pPr>
                      <a:r>
                        <a:t>0.8087</a:t>
                      </a:r>
                    </a:p>
                  </a:txBody>
                  <a:tcPr>
                    <a:solidFill>
                      <a:srgbClr val="F5F8F6"/>
                    </a:solidFill>
                  </a:tcPr>
                </a:tc>
                <a:tc>
                  <a:txBody>
                    <a:bodyPr/>
                    <a:lstStyle/>
                    <a:p>
                      <a:pPr>
                        <a:defRPr sz="850">
                          <a:solidFill>
                            <a:srgbClr val="182620"/>
                          </a:solidFill>
                        </a:defRPr>
                      </a:pPr>
                      <a:r>
                        <a:t>23.23</a:t>
                      </a:r>
                    </a:p>
                  </a:txBody>
                  <a:tcPr>
                    <a:solidFill>
                      <a:srgbClr val="F5F8F6"/>
                    </a:solidFill>
                  </a:tcPr>
                </a:tc>
                <a:tc>
                  <a:txBody>
                    <a:bodyPr/>
                    <a:lstStyle/>
                    <a:p>
                      <a:pPr>
                        <a:defRPr sz="850">
                          <a:solidFill>
                            <a:srgbClr val="182620"/>
                          </a:solidFill>
                        </a:defRPr>
                      </a:pPr>
                      <a:r>
                        <a:t>+1.47% R² via growth dynamics</a:t>
                      </a:r>
                    </a:p>
                  </a:txBody>
                  <a:tcPr>
                    <a:solidFill>
                      <a:srgbClr val="F5F8F6"/>
                    </a:solidFill>
                  </a:tcPr>
                </a:tc>
              </a:tr>
              <a:tr h="335280">
                <a:tc>
                  <a:txBody>
                    <a:bodyPr/>
                    <a:lstStyle/>
                    <a:p>
                      <a:pPr>
                        <a:defRPr sz="850">
                          <a:solidFill>
                            <a:srgbClr val="182620"/>
                          </a:solidFill>
                        </a:defRPr>
                      </a:pPr>
                      <a:r>
                        <a:t>Step 3: Vision + Canopy Indices</a:t>
                      </a:r>
                    </a:p>
                  </a:txBody>
                  <a:tcPr>
                    <a:solidFill>
                      <a:srgbClr val="FFFFFF"/>
                    </a:solidFill>
                  </a:tcPr>
                </a:tc>
                <a:tc>
                  <a:txBody>
                    <a:bodyPr/>
                    <a:lstStyle/>
                    <a:p>
                      <a:pPr>
                        <a:defRPr sz="850" b="1">
                          <a:solidFill>
                            <a:srgbClr val="0F2D24"/>
                          </a:solidFill>
                        </a:defRPr>
                      </a:pPr>
                      <a:r>
                        <a:t>0.8178</a:t>
                      </a:r>
                    </a:p>
                  </a:txBody>
                  <a:tcPr>
                    <a:solidFill>
                      <a:srgbClr val="FFFFFF"/>
                    </a:solidFill>
                  </a:tcPr>
                </a:tc>
                <a:tc>
                  <a:txBody>
                    <a:bodyPr/>
                    <a:lstStyle/>
                    <a:p>
                      <a:pPr>
                        <a:defRPr sz="850">
                          <a:solidFill>
                            <a:srgbClr val="182620"/>
                          </a:solidFill>
                        </a:defRPr>
                      </a:pPr>
                      <a:r>
                        <a:t>22.67</a:t>
                      </a:r>
                    </a:p>
                  </a:txBody>
                  <a:tcPr>
                    <a:solidFill>
                      <a:srgbClr val="FFFFFF"/>
                    </a:solidFill>
                  </a:tcPr>
                </a:tc>
                <a:tc>
                  <a:txBody>
                    <a:bodyPr/>
                    <a:lstStyle/>
                    <a:p>
                      <a:pPr>
                        <a:defRPr sz="850">
                          <a:solidFill>
                            <a:srgbClr val="182620"/>
                          </a:solidFill>
                        </a:defRPr>
                      </a:pPr>
                      <a:r>
                        <a:t>-0.56 bu/ac RMSE via color math</a:t>
                      </a:r>
                    </a:p>
                  </a:txBody>
                  <a:tcPr>
                    <a:solidFill>
                      <a:srgbClr val="FFFFFF"/>
                    </a:solidFill>
                  </a:tcPr>
                </a:tc>
              </a:tr>
              <a:tr h="335280">
                <a:tc>
                  <a:txBody>
                    <a:bodyPr/>
                    <a:lstStyle/>
                    <a:p>
                      <a:pPr>
                        <a:defRPr sz="850">
                          <a:solidFill>
                            <a:srgbClr val="182620"/>
                          </a:solidFill>
                        </a:defRPr>
                      </a:pPr>
                      <a:r>
                        <a:t>Step 4: Pedigree + Spatial Kriging</a:t>
                      </a:r>
                    </a:p>
                  </a:txBody>
                  <a:tcPr>
                    <a:solidFill>
                      <a:srgbClr val="F5F8F6"/>
                    </a:solidFill>
                  </a:tcPr>
                </a:tc>
                <a:tc>
                  <a:txBody>
                    <a:bodyPr/>
                    <a:lstStyle/>
                    <a:p>
                      <a:pPr>
                        <a:defRPr sz="850" b="1">
                          <a:solidFill>
                            <a:srgbClr val="0F2D24"/>
                          </a:solidFill>
                        </a:defRPr>
                      </a:pPr>
                      <a:r>
                        <a:t>0.8436</a:t>
                      </a:r>
                    </a:p>
                  </a:txBody>
                  <a:tcPr>
                    <a:solidFill>
                      <a:srgbClr val="F5F8F6"/>
                    </a:solidFill>
                  </a:tcPr>
                </a:tc>
                <a:tc>
                  <a:txBody>
                    <a:bodyPr/>
                    <a:lstStyle/>
                    <a:p>
                      <a:pPr>
                        <a:defRPr sz="850">
                          <a:solidFill>
                            <a:srgbClr val="182620"/>
                          </a:solidFill>
                        </a:defRPr>
                      </a:pPr>
                      <a:r>
                        <a:t>21.01</a:t>
                      </a:r>
                    </a:p>
                  </a:txBody>
                  <a:tcPr>
                    <a:solidFill>
                      <a:srgbClr val="F5F8F6"/>
                    </a:solidFill>
                  </a:tcPr>
                </a:tc>
                <a:tc>
                  <a:txBody>
                    <a:bodyPr/>
                    <a:lstStyle/>
                    <a:p>
                      <a:pPr>
                        <a:defRPr sz="850">
                          <a:solidFill>
                            <a:srgbClr val="182620"/>
                          </a:solidFill>
                        </a:defRPr>
                      </a:pPr>
                      <a:r>
                        <a:t>+2.58% R² via micro-soil mapping</a:t>
                      </a:r>
                    </a:p>
                  </a:txBody>
                  <a:tcPr>
                    <a:solidFill>
                      <a:srgbClr val="F5F8F6"/>
                    </a:solidFill>
                  </a:tcPr>
                </a:tc>
              </a:tr>
              <a:tr h="335280">
                <a:tc>
                  <a:txBody>
                    <a:bodyPr/>
                    <a:lstStyle/>
                    <a:p>
                      <a:pPr>
                        <a:defRPr sz="850">
                          <a:solidFill>
                            <a:srgbClr val="182620"/>
                          </a:solidFill>
                        </a:defRPr>
                      </a:pPr>
                      <a:r>
                        <a:t>Step 5: 3-View Stacked Ensemble</a:t>
                      </a:r>
                    </a:p>
                  </a:txBody>
                  <a:tcPr>
                    <a:solidFill>
                      <a:srgbClr val="FFFFFF"/>
                    </a:solidFill>
                  </a:tcPr>
                </a:tc>
                <a:tc>
                  <a:txBody>
                    <a:bodyPr/>
                    <a:lstStyle/>
                    <a:p>
                      <a:pPr>
                        <a:defRPr sz="850" b="1">
                          <a:solidFill>
                            <a:srgbClr val="2E7D32"/>
                          </a:solidFill>
                        </a:defRPr>
                      </a:pPr>
                      <a:r>
                        <a:t>0.8454</a:t>
                      </a:r>
                    </a:p>
                  </a:txBody>
                  <a:tcPr>
                    <a:solidFill>
                      <a:srgbClr val="FFFFFF"/>
                    </a:solidFill>
                  </a:tcPr>
                </a:tc>
                <a:tc>
                  <a:txBody>
                    <a:bodyPr/>
                    <a:lstStyle/>
                    <a:p>
                      <a:pPr>
                        <a:defRPr sz="850">
                          <a:solidFill>
                            <a:srgbClr val="182620"/>
                          </a:solidFill>
                        </a:defRPr>
                      </a:pPr>
                      <a:r>
                        <a:t>20.88</a:t>
                      </a:r>
                    </a:p>
                  </a:txBody>
                  <a:tcPr>
                    <a:solidFill>
                      <a:srgbClr val="FFFFFF"/>
                    </a:solidFill>
                  </a:tcPr>
                </a:tc>
                <a:tc>
                  <a:txBody>
                    <a:bodyPr/>
                    <a:lstStyle/>
                    <a:p>
                      <a:pPr>
                        <a:defRPr sz="850">
                          <a:solidFill>
                            <a:srgbClr val="182620"/>
                          </a:solidFill>
                        </a:defRPr>
                      </a:pPr>
                      <a:r>
                        <a:t>Final specialist precision</a:t>
                      </a:r>
                    </a:p>
                  </a:txBody>
                  <a:tcPr>
                    <a:solidFill>
                      <a:srgbClr val="FFFFFF"/>
                    </a:solidFill>
                  </a:tcPr>
                </a:tc>
              </a:tr>
            </a:tbl>
          </a:graphicData>
        </a:graphic>
      </p:graphicFrame>
      <p:sp>
        <p:nvSpPr>
          <p:cNvPr id="6" name="Rounded Rectangle 5"/>
          <p:cNvSpPr/>
          <p:nvPr/>
        </p:nvSpPr>
        <p:spPr>
          <a:xfrm>
            <a:off x="731520" y="3840480"/>
            <a:ext cx="6217920" cy="2560320"/>
          </a:xfrm>
          <a:prstGeom prst="roundRect">
            <a:avLst/>
          </a:prstGeom>
          <a:solidFill>
            <a:srgbClr val="FFFFFF"/>
          </a:solidFill>
          <a:ln w="12700">
            <a:solidFill>
              <a:srgbClr val="A5D6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00">
                <a:solidFill>
                  <a:srgbClr val="0F2D24"/>
                </a:solidFill>
              </a:defRPr>
            </a:pPr>
            <a:r>
              <a:t>Key Analytical Findings for Model 1 (Specialist)</a:t>
            </a:r>
          </a:p>
          <a:p>
            <a:pPr>
              <a:spcBef>
                <a:spcPts val="300"/>
              </a:spcBef>
            </a:pPr>
            <a:r>
              <a:rPr b="1" sz="850">
                <a:solidFill>
                  <a:srgbClr val="0F2D24"/>
                </a:solidFill>
              </a:rPr>
              <a:t>• Multi-Temporal Triad Advantage: </a:t>
            </a:r>
            <a:r>
              <a:rPr sz="800">
                <a:solidFill>
                  <a:srgbClr val="182620"/>
                </a:solidFill>
              </a:rPr>
              <a:t>Moving from a single-flight flowering snapshot to multi-temporal tracking lowered RMSE by nearly 0.9 bu/ac, proving stand count and vegetative rate add essential signal.</a:t>
            </a:r>
          </a:p>
          <a:p>
            <a:pPr>
              <a:spcBef>
                <a:spcPts val="300"/>
              </a:spcBef>
            </a:pPr>
            <a:r>
              <a:rPr b="1" sz="850">
                <a:solidFill>
                  <a:srgbClr val="0F2D24"/>
                </a:solidFill>
              </a:rPr>
              <a:t>• Canopy Indices Complement Vision: </a:t>
            </a:r>
            <a:r>
              <a:rPr sz="800">
                <a:solidFill>
                  <a:srgbClr val="182620"/>
                </a:solidFill>
              </a:rPr>
              <a:t>Adding 12 explicit canopy ratios (ExG, VARI, FGCC) further reduced RMSE by 0.56 bu/ac via physiological color constraints.</a:t>
            </a:r>
          </a:p>
          <a:p>
            <a:pPr>
              <a:spcBef>
                <a:spcPts val="300"/>
              </a:spcBef>
            </a:pPr>
            <a:r>
              <a:rPr b="1" sz="850">
                <a:solidFill>
                  <a:srgbClr val="0F2D24"/>
                </a:solidFill>
              </a:rPr>
              <a:t>• Spatial Kriging &amp; Genetic Lineage: </a:t>
            </a:r>
            <a:r>
              <a:rPr sz="800">
                <a:solidFill>
                  <a:srgbClr val="182620"/>
                </a:solidFill>
              </a:rPr>
              <a:t>Step 4 produced the largest single leap, dropping RMSE by over 1.66 bu/ac by modeling hybrid heterosis and micro-soil trends.</a:t>
            </a:r>
          </a:p>
          <a:p>
            <a:pPr>
              <a:spcBef>
                <a:spcPts val="300"/>
              </a:spcBef>
            </a:pPr>
            <a:r>
              <a:rPr b="1" sz="850">
                <a:solidFill>
                  <a:srgbClr val="0F2D24"/>
                </a:solidFill>
              </a:rPr>
              <a:t>• Final Stacked Precision: </a:t>
            </a:r>
            <a:r>
              <a:rPr sz="800">
                <a:solidFill>
                  <a:srgbClr val="182620"/>
                </a:solidFill>
              </a:rPr>
              <a:t>The 3-view stacked ensemble with gamma calibration achieved R² = 0.8454 and MAE = 16.53 bu/ac, explaining 84.5% of yield variance.</a:t>
            </a:r>
          </a:p>
        </p:txBody>
      </p:sp>
      <p:pic>
        <p:nvPicPr>
          <p:cNvPr id="7" name="Picture 6" descr="1_R2_Comparison_Model1_vs_Model2.png"/>
          <p:cNvPicPr>
            <a:picLocks noChangeAspect="1"/>
          </p:cNvPicPr>
          <p:nvPr/>
        </p:nvPicPr>
        <p:blipFill>
          <a:blip r:embed="rId2"/>
          <a:stretch>
            <a:fillRect/>
          </a:stretch>
        </p:blipFill>
        <p:spPr>
          <a:xfrm>
            <a:off x="7132320" y="1645920"/>
            <a:ext cx="4297680" cy="47548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SECTION V • RESULTS &amp; DISCUSSION</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Model 2 Results: Overcoming the Cross-Site Domain Shift</a:t>
            </a:r>
          </a:p>
          <a:p>
            <a:pPr>
              <a:spcBef>
                <a:spcPts val="300"/>
              </a:spcBef>
              <a:defRPr sz="1150">
                <a:solidFill>
                  <a:srgbClr val="55695F"/>
                </a:solidFill>
                <a:latin typeface="Calibri"/>
              </a:defRPr>
            </a:pPr>
            <a:r>
              <a:t>Leave-One-Location-Out evaluation on 488 unseen test plots at Crawfordsville, Indiana</a:t>
            </a:r>
          </a:p>
        </p:txBody>
      </p:sp>
      <p:graphicFrame>
        <p:nvGraphicFramePr>
          <p:cNvPr id="5" name="Table 4"/>
          <p:cNvGraphicFramePr>
            <a:graphicFrameLocks noGrp="1"/>
          </p:cNvGraphicFramePr>
          <p:nvPr/>
        </p:nvGraphicFramePr>
        <p:xfrm>
          <a:off x="731520" y="1645920"/>
          <a:ext cx="6217920" cy="2194560"/>
        </p:xfrm>
        <a:graphic>
          <a:graphicData uri="http://schemas.openxmlformats.org/drawingml/2006/table">
            <a:tbl>
              <a:tblPr firstRow="1" bandRow="1">
                <a:tableStyleId>{5C22544A-7EE6-4342-B048-85BDC9FD1C3A}</a:tableStyleId>
              </a:tblPr>
              <a:tblGrid>
                <a:gridCol w="2286000"/>
                <a:gridCol w="1005840"/>
                <a:gridCol w="1280160"/>
                <a:gridCol w="1645920"/>
              </a:tblGrid>
              <a:tr h="313508">
                <a:tc>
                  <a:txBody>
                    <a:bodyPr/>
                    <a:lstStyle/>
                    <a:p>
                      <a:pPr>
                        <a:defRPr b="1" sz="900">
                          <a:solidFill>
                            <a:srgbClr val="FFFFFF"/>
                          </a:solidFill>
                        </a:defRPr>
                      </a:pPr>
                      <a:r>
                        <a:t>Progression Stage</a:t>
                      </a:r>
                    </a:p>
                  </a:txBody>
                  <a:tcPr>
                    <a:solidFill>
                      <a:srgbClr val="0F2D24"/>
                    </a:solidFill>
                  </a:tcPr>
                </a:tc>
                <a:tc>
                  <a:txBody>
                    <a:bodyPr/>
                    <a:lstStyle/>
                    <a:p>
                      <a:pPr>
                        <a:defRPr b="1" sz="900">
                          <a:solidFill>
                            <a:srgbClr val="FFFFFF"/>
                          </a:solidFill>
                        </a:defRPr>
                      </a:pPr>
                      <a:r>
                        <a:t>R² Score</a:t>
                      </a:r>
                    </a:p>
                  </a:txBody>
                  <a:tcPr>
                    <a:solidFill>
                      <a:srgbClr val="0F2D24"/>
                    </a:solidFill>
                  </a:tcPr>
                </a:tc>
                <a:tc>
                  <a:txBody>
                    <a:bodyPr/>
                    <a:lstStyle/>
                    <a:p>
                      <a:pPr>
                        <a:defRPr b="1" sz="900">
                          <a:solidFill>
                            <a:srgbClr val="FFFFFF"/>
                          </a:solidFill>
                        </a:defRPr>
                      </a:pPr>
                      <a:r>
                        <a:t>RMSE (bu/ac)</a:t>
                      </a:r>
                    </a:p>
                  </a:txBody>
                  <a:tcPr>
                    <a:solidFill>
                      <a:srgbClr val="0F2D24"/>
                    </a:solidFill>
                  </a:tcPr>
                </a:tc>
                <a:tc>
                  <a:txBody>
                    <a:bodyPr/>
                    <a:lstStyle/>
                    <a:p>
                      <a:pPr>
                        <a:defRPr b="1" sz="900">
                          <a:solidFill>
                            <a:srgbClr val="FFFFFF"/>
                          </a:solidFill>
                        </a:defRPr>
                      </a:pPr>
                      <a:r>
                        <a:t>Performance Discussion</a:t>
                      </a:r>
                    </a:p>
                  </a:txBody>
                  <a:tcPr>
                    <a:solidFill>
                      <a:srgbClr val="0F2D24"/>
                    </a:solidFill>
                  </a:tcPr>
                </a:tc>
              </a:tr>
              <a:tr h="313508">
                <a:tc>
                  <a:txBody>
                    <a:bodyPr/>
                    <a:lstStyle/>
                    <a:p>
                      <a:pPr>
                        <a:defRPr sz="850">
                          <a:solidFill>
                            <a:srgbClr val="182620"/>
                          </a:solidFill>
                        </a:defRPr>
                      </a:pPr>
                      <a:r>
                        <a:t>Step 1: Frozen TP3 Vision Backbone</a:t>
                      </a:r>
                    </a:p>
                  </a:txBody>
                  <a:tcPr>
                    <a:solidFill>
                      <a:srgbClr val="FFFFFF"/>
                    </a:solidFill>
                  </a:tcPr>
                </a:tc>
                <a:tc>
                  <a:txBody>
                    <a:bodyPr/>
                    <a:lstStyle/>
                    <a:p>
                      <a:pPr>
                        <a:defRPr sz="850" b="1">
                          <a:solidFill>
                            <a:srgbClr val="DC2626"/>
                          </a:solidFill>
                        </a:defRPr>
                      </a:pPr>
                      <a:r>
                        <a:t>-1.6207</a:t>
                      </a:r>
                    </a:p>
                  </a:txBody>
                  <a:tcPr>
                    <a:solidFill>
                      <a:srgbClr val="FFFFFF"/>
                    </a:solidFill>
                  </a:tcPr>
                </a:tc>
                <a:tc>
                  <a:txBody>
                    <a:bodyPr/>
                    <a:lstStyle/>
                    <a:p>
                      <a:pPr>
                        <a:defRPr sz="850">
                          <a:solidFill>
                            <a:srgbClr val="182620"/>
                          </a:solidFill>
                        </a:defRPr>
                      </a:pPr>
                      <a:r>
                        <a:t>39.95</a:t>
                      </a:r>
                    </a:p>
                  </a:txBody>
                  <a:tcPr>
                    <a:solidFill>
                      <a:srgbClr val="FFFFFF"/>
                    </a:solidFill>
                  </a:tcPr>
                </a:tc>
                <a:tc>
                  <a:txBody>
                    <a:bodyPr/>
                    <a:lstStyle/>
                    <a:p>
                      <a:pPr>
                        <a:defRPr sz="850">
                          <a:solidFill>
                            <a:srgbClr val="182620"/>
                          </a:solidFill>
                        </a:defRPr>
                      </a:pPr>
                      <a:r>
                        <a:t>Severe failure of naive transfer</a:t>
                      </a:r>
                    </a:p>
                  </a:txBody>
                  <a:tcPr>
                    <a:solidFill>
                      <a:srgbClr val="FFFFFF"/>
                    </a:solidFill>
                  </a:tcPr>
                </a:tc>
              </a:tr>
              <a:tr h="313508">
                <a:tc>
                  <a:txBody>
                    <a:bodyPr/>
                    <a:lstStyle/>
                    <a:p>
                      <a:pPr>
                        <a:defRPr sz="850">
                          <a:solidFill>
                            <a:srgbClr val="182620"/>
                          </a:solidFill>
                        </a:defRPr>
                      </a:pPr>
                      <a:r>
                        <a:t>Step 2: Multi-Flight + Planting Date</a:t>
                      </a:r>
                    </a:p>
                  </a:txBody>
                  <a:tcPr>
                    <a:solidFill>
                      <a:srgbClr val="F5F8F6"/>
                    </a:solidFill>
                  </a:tcPr>
                </a:tc>
                <a:tc>
                  <a:txBody>
                    <a:bodyPr/>
                    <a:lstStyle/>
                    <a:p>
                      <a:pPr>
                        <a:defRPr sz="850" b="1">
                          <a:solidFill>
                            <a:srgbClr val="DC2626"/>
                          </a:solidFill>
                        </a:defRPr>
                      </a:pPr>
                      <a:r>
                        <a:t>-0.6072</a:t>
                      </a:r>
                    </a:p>
                  </a:txBody>
                  <a:tcPr>
                    <a:solidFill>
                      <a:srgbClr val="F5F8F6"/>
                    </a:solidFill>
                  </a:tcPr>
                </a:tc>
                <a:tc>
                  <a:txBody>
                    <a:bodyPr/>
                    <a:lstStyle/>
                    <a:p>
                      <a:pPr>
                        <a:defRPr sz="850">
                          <a:solidFill>
                            <a:srgbClr val="182620"/>
                          </a:solidFill>
                        </a:defRPr>
                      </a:pPr>
                      <a:r>
                        <a:t>31.29</a:t>
                      </a:r>
                    </a:p>
                  </a:txBody>
                  <a:tcPr>
                    <a:solidFill>
                      <a:srgbClr val="F5F8F6"/>
                    </a:solidFill>
                  </a:tcPr>
                </a:tc>
                <a:tc>
                  <a:txBody>
                    <a:bodyPr/>
                    <a:lstStyle/>
                    <a:p>
                      <a:pPr>
                        <a:defRPr sz="850">
                          <a:solidFill>
                            <a:srgbClr val="182620"/>
                          </a:solidFill>
                        </a:defRPr>
                      </a:pPr>
                      <a:r>
                        <a:t>Environmental offset correction</a:t>
                      </a:r>
                    </a:p>
                  </a:txBody>
                  <a:tcPr>
                    <a:solidFill>
                      <a:srgbClr val="F5F8F6"/>
                    </a:solidFill>
                  </a:tcPr>
                </a:tc>
              </a:tr>
              <a:tr h="313508">
                <a:tc>
                  <a:txBody>
                    <a:bodyPr/>
                    <a:lstStyle/>
                    <a:p>
                      <a:pPr>
                        <a:defRPr sz="850">
                          <a:solidFill>
                            <a:srgbClr val="182620"/>
                          </a:solidFill>
                        </a:defRPr>
                      </a:pPr>
                      <a:r>
                        <a:t>Step 3: Fine-Tuned Backbone</a:t>
                      </a:r>
                    </a:p>
                  </a:txBody>
                  <a:tcPr>
                    <a:solidFill>
                      <a:srgbClr val="FFFFFF"/>
                    </a:solidFill>
                  </a:tcPr>
                </a:tc>
                <a:tc>
                  <a:txBody>
                    <a:bodyPr/>
                    <a:lstStyle/>
                    <a:p>
                      <a:pPr>
                        <a:defRPr sz="850" b="1">
                          <a:solidFill>
                            <a:srgbClr val="DC2626"/>
                          </a:solidFill>
                        </a:defRPr>
                      </a:pPr>
                      <a:r>
                        <a:t>-0.4431</a:t>
                      </a:r>
                    </a:p>
                  </a:txBody>
                  <a:tcPr>
                    <a:solidFill>
                      <a:srgbClr val="FFFFFF"/>
                    </a:solidFill>
                  </a:tcPr>
                </a:tc>
                <a:tc>
                  <a:txBody>
                    <a:bodyPr/>
                    <a:lstStyle/>
                    <a:p>
                      <a:pPr>
                        <a:defRPr sz="850">
                          <a:solidFill>
                            <a:srgbClr val="182620"/>
                          </a:solidFill>
                        </a:defRPr>
                      </a:pPr>
                      <a:r>
                        <a:t>29.65</a:t>
                      </a:r>
                    </a:p>
                  </a:txBody>
                  <a:tcPr>
                    <a:solidFill>
                      <a:srgbClr val="FFFFFF"/>
                    </a:solidFill>
                  </a:tcPr>
                </a:tc>
                <a:tc>
                  <a:txBody>
                    <a:bodyPr/>
                    <a:lstStyle/>
                    <a:p>
                      <a:pPr>
                        <a:defRPr sz="850">
                          <a:solidFill>
                            <a:srgbClr val="182620"/>
                          </a:solidFill>
                        </a:defRPr>
                      </a:pPr>
                      <a:r>
                        <a:t>Feature adaptation to maize</a:t>
                      </a:r>
                    </a:p>
                  </a:txBody>
                  <a:tcPr>
                    <a:solidFill>
                      <a:srgbClr val="FFFFFF"/>
                    </a:solidFill>
                  </a:tcPr>
                </a:tc>
              </a:tr>
              <a:tr h="313508">
                <a:tc>
                  <a:txBody>
                    <a:bodyPr/>
                    <a:lstStyle/>
                    <a:p>
                      <a:pPr>
                        <a:defRPr sz="850">
                          <a:solidFill>
                            <a:srgbClr val="182620"/>
                          </a:solidFill>
                        </a:defRPr>
                      </a:pPr>
                      <a:r>
                        <a:t>Step 4: LOLO Normalization + Spatial</a:t>
                      </a:r>
                    </a:p>
                  </a:txBody>
                  <a:tcPr>
                    <a:solidFill>
                      <a:srgbClr val="F5F8F6"/>
                    </a:solidFill>
                  </a:tcPr>
                </a:tc>
                <a:tc>
                  <a:txBody>
                    <a:bodyPr/>
                    <a:lstStyle/>
                    <a:p>
                      <a:pPr>
                        <a:defRPr sz="850" b="1">
                          <a:solidFill>
                            <a:srgbClr val="DC2626"/>
                          </a:solidFill>
                        </a:defRPr>
                      </a:pPr>
                      <a:r>
                        <a:t>-0.2514</a:t>
                      </a:r>
                    </a:p>
                  </a:txBody>
                  <a:tcPr>
                    <a:solidFill>
                      <a:srgbClr val="F5F8F6"/>
                    </a:solidFill>
                  </a:tcPr>
                </a:tc>
                <a:tc>
                  <a:txBody>
                    <a:bodyPr/>
                    <a:lstStyle/>
                    <a:p>
                      <a:pPr>
                        <a:defRPr sz="850">
                          <a:solidFill>
                            <a:srgbClr val="182620"/>
                          </a:solidFill>
                        </a:defRPr>
                      </a:pPr>
                      <a:r>
                        <a:t>27.61</a:t>
                      </a:r>
                    </a:p>
                  </a:txBody>
                  <a:tcPr>
                    <a:solidFill>
                      <a:srgbClr val="F5F8F6"/>
                    </a:solidFill>
                  </a:tcPr>
                </a:tc>
                <a:tc>
                  <a:txBody>
                    <a:bodyPr/>
                    <a:lstStyle/>
                    <a:p>
                      <a:pPr>
                        <a:defRPr sz="850">
                          <a:solidFill>
                            <a:srgbClr val="182620"/>
                          </a:solidFill>
                        </a:defRPr>
                      </a:pPr>
                      <a:r>
                        <a:t>Mitigating site-specific bias</a:t>
                      </a:r>
                    </a:p>
                  </a:txBody>
                  <a:tcPr>
                    <a:solidFill>
                      <a:srgbClr val="F5F8F6"/>
                    </a:solidFill>
                  </a:tcPr>
                </a:tc>
              </a:tr>
              <a:tr h="313508">
                <a:tc>
                  <a:txBody>
                    <a:bodyPr/>
                    <a:lstStyle/>
                    <a:p>
                      <a:pPr>
                        <a:defRPr sz="850">
                          <a:solidFill>
                            <a:srgbClr val="182620"/>
                          </a:solidFill>
                        </a:defRPr>
                      </a:pPr>
                      <a:r>
                        <a:t>Step 5: Final Zero-Shot Ensemble</a:t>
                      </a:r>
                    </a:p>
                  </a:txBody>
                  <a:tcPr>
                    <a:solidFill>
                      <a:srgbClr val="FFFFFF"/>
                    </a:solidFill>
                  </a:tcPr>
                </a:tc>
                <a:tc>
                  <a:txBody>
                    <a:bodyPr/>
                    <a:lstStyle/>
                    <a:p>
                      <a:pPr>
                        <a:defRPr sz="850" b="1">
                          <a:solidFill>
                            <a:srgbClr val="2E7D32"/>
                          </a:solidFill>
                        </a:defRPr>
                      </a:pPr>
                      <a:r>
                        <a:t>+0.1398</a:t>
                      </a:r>
                    </a:p>
                  </a:txBody>
                  <a:tcPr>
                    <a:solidFill>
                      <a:srgbClr val="FFFFFF"/>
                    </a:solidFill>
                  </a:tcPr>
                </a:tc>
                <a:tc>
                  <a:txBody>
                    <a:bodyPr/>
                    <a:lstStyle/>
                    <a:p>
                      <a:pPr>
                        <a:defRPr sz="850">
                          <a:solidFill>
                            <a:srgbClr val="182620"/>
                          </a:solidFill>
                        </a:defRPr>
                      </a:pPr>
                      <a:r>
                        <a:t>22.89</a:t>
                      </a:r>
                    </a:p>
                  </a:txBody>
                  <a:tcPr>
                    <a:solidFill>
                      <a:srgbClr val="FFFFFF"/>
                    </a:solidFill>
                  </a:tcPr>
                </a:tc>
                <a:tc>
                  <a:txBody>
                    <a:bodyPr/>
                    <a:lstStyle/>
                    <a:p>
                      <a:pPr>
                        <a:defRPr sz="850">
                          <a:solidFill>
                            <a:srgbClr val="182620"/>
                          </a:solidFill>
                        </a:defRPr>
                      </a:pPr>
                      <a:r>
                        <a:t>Flips negative R² to positive</a:t>
                      </a:r>
                    </a:p>
                  </a:txBody>
                  <a:tcPr>
                    <a:solidFill>
                      <a:srgbClr val="FFFFFF"/>
                    </a:solidFill>
                  </a:tcPr>
                </a:tc>
              </a:tr>
              <a:tr h="313512">
                <a:tc>
                  <a:txBody>
                    <a:bodyPr/>
                    <a:lstStyle/>
                    <a:p>
                      <a:pPr>
                        <a:defRPr sz="850">
                          <a:solidFill>
                            <a:srgbClr val="182620"/>
                          </a:solidFill>
                        </a:defRPr>
                      </a:pPr>
                      <a:r>
                        <a:t>Step 6: With 15-Plot Calibration</a:t>
                      </a:r>
                    </a:p>
                  </a:txBody>
                  <a:tcPr>
                    <a:solidFill>
                      <a:srgbClr val="F5F8F6"/>
                    </a:solidFill>
                  </a:tcPr>
                </a:tc>
                <a:tc>
                  <a:txBody>
                    <a:bodyPr/>
                    <a:lstStyle/>
                    <a:p>
                      <a:pPr>
                        <a:defRPr sz="850" b="1">
                          <a:solidFill>
                            <a:srgbClr val="2E7D32"/>
                          </a:solidFill>
                        </a:defRPr>
                      </a:pPr>
                      <a:r>
                        <a:t>+0.2168</a:t>
                      </a:r>
                    </a:p>
                  </a:txBody>
                  <a:tcPr>
                    <a:solidFill>
                      <a:srgbClr val="F5F8F6"/>
                    </a:solidFill>
                  </a:tcPr>
                </a:tc>
                <a:tc>
                  <a:txBody>
                    <a:bodyPr/>
                    <a:lstStyle/>
                    <a:p>
                      <a:pPr>
                        <a:defRPr sz="850">
                          <a:solidFill>
                            <a:srgbClr val="182620"/>
                          </a:solidFill>
                        </a:defRPr>
                      </a:pPr>
                      <a:r>
                        <a:t>21.89</a:t>
                      </a:r>
                    </a:p>
                  </a:txBody>
                  <a:tcPr>
                    <a:solidFill>
                      <a:srgbClr val="F5F8F6"/>
                    </a:solidFill>
                  </a:tcPr>
                </a:tc>
                <a:tc>
                  <a:txBody>
                    <a:bodyPr/>
                    <a:lstStyle/>
                    <a:p>
                      <a:pPr>
                        <a:defRPr sz="850">
                          <a:solidFill>
                            <a:srgbClr val="182620"/>
                          </a:solidFill>
                        </a:defRPr>
                      </a:pPr>
                      <a:r>
                        <a:t>Rapid adaptation with minimal labels</a:t>
                      </a:r>
                    </a:p>
                  </a:txBody>
                  <a:tcPr>
                    <a:solidFill>
                      <a:srgbClr val="F5F8F6"/>
                    </a:solidFill>
                  </a:tcPr>
                </a:tc>
              </a:tr>
            </a:tbl>
          </a:graphicData>
        </a:graphic>
      </p:graphicFrame>
      <p:sp>
        <p:nvSpPr>
          <p:cNvPr id="6" name="Rounded Rectangle 5"/>
          <p:cNvSpPr/>
          <p:nvPr/>
        </p:nvSpPr>
        <p:spPr>
          <a:xfrm>
            <a:off x="731520" y="3977639"/>
            <a:ext cx="6217920" cy="2423160"/>
          </a:xfrm>
          <a:prstGeom prst="roundRect">
            <a:avLst/>
          </a:prstGeom>
          <a:solidFill>
            <a:srgbClr val="FFFFFF"/>
          </a:solidFill>
          <a:ln w="12700">
            <a:solidFill>
              <a:srgbClr val="F6D28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00">
                <a:solidFill>
                  <a:srgbClr val="E5A93C"/>
                </a:solidFill>
              </a:defRPr>
            </a:pPr>
            <a:r>
              <a:t>Key Analytical Findings for Model 2 (Generalist)</a:t>
            </a:r>
          </a:p>
          <a:p>
            <a:pPr>
              <a:spcBef>
                <a:spcPts val="300"/>
              </a:spcBef>
            </a:pPr>
            <a:r>
              <a:rPr b="1" sz="850">
                <a:solidFill>
                  <a:srgbClr val="0F2D24"/>
                </a:solidFill>
              </a:rPr>
              <a:t>• Failure of Naive Transfer: </a:t>
            </a:r>
            <a:r>
              <a:rPr sz="800">
                <a:solidFill>
                  <a:srgbClr val="182620"/>
                </a:solidFill>
              </a:rPr>
              <a:t>Off-the-shelf CNN transfer failed catastrophically at Crawfordsville with R² = -1.62 due to severe environmental baseline yield differences between Nebraska and Indiana.</a:t>
            </a:r>
          </a:p>
          <a:p>
            <a:pPr>
              <a:spcBef>
                <a:spcPts val="300"/>
              </a:spcBef>
            </a:pPr>
            <a:r>
              <a:rPr b="1" sz="850">
                <a:solidFill>
                  <a:srgbClr val="0F2D24"/>
                </a:solidFill>
              </a:rPr>
              <a:t>• Decoupled Anchor-Ranker: </a:t>
            </a:r>
            <a:r>
              <a:rPr sz="800">
                <a:solidFill>
                  <a:srgbClr val="182620"/>
                </a:solidFill>
              </a:rPr>
              <a:t>By decoupling the prediction into a macro Field Anchor (field baseline) and a Within-Field Ranker (relative plot vigor), Step 5 flipped R² to positive (+0.1398) with zero training data on the site.</a:t>
            </a:r>
          </a:p>
          <a:p>
            <a:pPr>
              <a:spcBef>
                <a:spcPts val="300"/>
              </a:spcBef>
            </a:pPr>
            <a:r>
              <a:rPr b="1" sz="850">
                <a:solidFill>
                  <a:srgbClr val="0F2D24"/>
                </a:solidFill>
              </a:rPr>
              <a:t>• Rapid Few-Shot Field Calibration: </a:t>
            </a:r>
            <a:r>
              <a:rPr sz="800">
                <a:solidFill>
                  <a:srgbClr val="182620"/>
                </a:solidFill>
              </a:rPr>
              <a:t>Supplying just 15 labeled reference plots (Step 6) boosted test R² to +0.2168 and dropped RMSE to 21.89 bu/ac, demonstrating high commercial utility.</a:t>
            </a:r>
          </a:p>
        </p:txBody>
      </p:sp>
      <p:pic>
        <p:nvPicPr>
          <p:cNvPr id="7" name="Picture 6" descr="crawfordsville_test_comparison_chart.png"/>
          <p:cNvPicPr>
            <a:picLocks noChangeAspect="1"/>
          </p:cNvPicPr>
          <p:nvPr/>
        </p:nvPicPr>
        <p:blipFill>
          <a:blip r:embed="rId2"/>
          <a:stretch>
            <a:fillRect/>
          </a:stretch>
        </p:blipFill>
        <p:spPr>
          <a:xfrm>
            <a:off x="7132320" y="1645920"/>
            <a:ext cx="4297680" cy="47548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ALGORITHMIC BENCHMARKING • ARCHITECTURAL DECISIONS</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Comparison of Alternative Algorithms &amp; Approaches</a:t>
            </a:r>
          </a:p>
          <a:p>
            <a:pPr>
              <a:spcBef>
                <a:spcPts val="300"/>
              </a:spcBef>
              <a:defRPr sz="1150">
                <a:solidFill>
                  <a:srgbClr val="55695F"/>
                </a:solidFill>
                <a:latin typeface="Calibri"/>
              </a:defRPr>
            </a:pPr>
            <a:r>
              <a:t>Why conventional deep learning and single-flight setups fell short</a:t>
            </a:r>
          </a:p>
        </p:txBody>
      </p:sp>
      <p:graphicFrame>
        <p:nvGraphicFramePr>
          <p:cNvPr id="5" name="Table 4"/>
          <p:cNvGraphicFramePr>
            <a:graphicFrameLocks noGrp="1"/>
          </p:cNvGraphicFramePr>
          <p:nvPr/>
        </p:nvGraphicFramePr>
        <p:xfrm>
          <a:off x="731520" y="1645920"/>
          <a:ext cx="10698480" cy="4572000"/>
        </p:xfrm>
        <a:graphic>
          <a:graphicData uri="http://schemas.openxmlformats.org/drawingml/2006/table">
            <a:tbl>
              <a:tblPr firstRow="1" bandRow="1">
                <a:tableStyleId>{5C22544A-7EE6-4342-B048-85BDC9FD1C3A}</a:tableStyleId>
              </a:tblPr>
              <a:tblGrid>
                <a:gridCol w="2011680"/>
                <a:gridCol w="2651760"/>
                <a:gridCol w="2651760"/>
                <a:gridCol w="3383280"/>
              </a:tblGrid>
              <a:tr h="762000">
                <a:tc>
                  <a:txBody>
                    <a:bodyPr/>
                    <a:lstStyle/>
                    <a:p>
                      <a:pPr>
                        <a:defRPr b="1" sz="950">
                          <a:solidFill>
                            <a:srgbClr val="FFFFFF"/>
                          </a:solidFill>
                        </a:defRPr>
                      </a:pPr>
                      <a:r>
                        <a:t>Design Dimension</a:t>
                      </a:r>
                    </a:p>
                  </a:txBody>
                  <a:tcPr>
                    <a:solidFill>
                      <a:srgbClr val="0F2D24"/>
                    </a:solidFill>
                  </a:tcPr>
                </a:tc>
                <a:tc>
                  <a:txBody>
                    <a:bodyPr/>
                    <a:lstStyle/>
                    <a:p>
                      <a:pPr>
                        <a:defRPr b="1" sz="950">
                          <a:solidFill>
                            <a:srgbClr val="FFFFFF"/>
                          </a:solidFill>
                        </a:defRPr>
                      </a:pPr>
                      <a:r>
                        <a:t>Conventional / Alternative Approach</a:t>
                      </a:r>
                    </a:p>
                  </a:txBody>
                  <a:tcPr>
                    <a:solidFill>
                      <a:srgbClr val="0F2D24"/>
                    </a:solidFill>
                  </a:tcPr>
                </a:tc>
                <a:tc>
                  <a:txBody>
                    <a:bodyPr/>
                    <a:lstStyle/>
                    <a:p>
                      <a:pPr>
                        <a:defRPr b="1" sz="950">
                          <a:solidFill>
                            <a:srgbClr val="FFFFFF"/>
                          </a:solidFill>
                        </a:defRPr>
                      </a:pPr>
                      <a:r>
                        <a:t>MaizeSight Chosen Approach</a:t>
                      </a:r>
                    </a:p>
                  </a:txBody>
                  <a:tcPr>
                    <a:solidFill>
                      <a:srgbClr val="0F2D24"/>
                    </a:solidFill>
                  </a:tcPr>
                </a:tc>
                <a:tc>
                  <a:txBody>
                    <a:bodyPr/>
                    <a:lstStyle/>
                    <a:p>
                      <a:pPr>
                        <a:defRPr b="1" sz="950">
                          <a:solidFill>
                            <a:srgbClr val="FFFFFF"/>
                          </a:solidFill>
                        </a:defRPr>
                      </a:pPr>
                      <a:r>
                        <a:t>Key Advantage / Empirical Outcome</a:t>
                      </a:r>
                    </a:p>
                  </a:txBody>
                  <a:tcPr>
                    <a:solidFill>
                      <a:srgbClr val="0F2D24"/>
                    </a:solidFill>
                  </a:tcPr>
                </a:tc>
              </a:tr>
              <a:tr h="762000">
                <a:tc>
                  <a:txBody>
                    <a:bodyPr/>
                    <a:lstStyle/>
                    <a:p>
                      <a:pPr>
                        <a:defRPr sz="850" b="1">
                          <a:solidFill>
                            <a:srgbClr val="0F2D24"/>
                          </a:solidFill>
                        </a:defRPr>
                      </a:pPr>
                      <a:r>
                        <a:t>Vision Backbone</a:t>
                      </a:r>
                    </a:p>
                  </a:txBody>
                  <a:tcPr>
                    <a:solidFill>
                      <a:srgbClr val="FFFFFF"/>
                    </a:solidFill>
                  </a:tcPr>
                </a:tc>
                <a:tc>
                  <a:txBody>
                    <a:bodyPr/>
                    <a:lstStyle/>
                    <a:p>
                      <a:pPr>
                        <a:defRPr sz="850">
                          <a:solidFill>
                            <a:srgbClr val="182620"/>
                          </a:solidFill>
                        </a:defRPr>
                      </a:pPr>
                      <a:r>
                        <a:t>ResNet-50 / VGG-16 / ViT</a:t>
                      </a:r>
                      <a:br/>
                      <a:r>
                        <a:t>(25M–86M parameters; overfits on trial plots)</a:t>
                      </a:r>
                    </a:p>
                  </a:txBody>
                  <a:tcPr>
                    <a:solidFill>
                      <a:srgbClr val="FFFFFF"/>
                    </a:solidFill>
                  </a:tcPr>
                </a:tc>
                <a:tc>
                  <a:txBody>
                    <a:bodyPr/>
                    <a:lstStyle/>
                    <a:p>
                      <a:pPr>
                        <a:defRPr sz="850" b="1">
                          <a:solidFill>
                            <a:srgbClr val="2E7D32"/>
                          </a:solidFill>
                        </a:defRPr>
                      </a:pPr>
                      <a:r>
                        <a:t>EfficientNet-B0 (Compound Scaled)</a:t>
                      </a:r>
                      <a:br/>
                      <a:r>
                        <a:t>(5.3M parameters; MBConv + SE attention)</a:t>
                      </a:r>
                    </a:p>
                  </a:txBody>
                  <a:tcPr>
                    <a:solidFill>
                      <a:srgbClr val="FFFFFF"/>
                    </a:solidFill>
                  </a:tcPr>
                </a:tc>
                <a:tc>
                  <a:txBody>
                    <a:bodyPr/>
                    <a:lstStyle/>
                    <a:p>
                      <a:pPr>
                        <a:defRPr sz="850">
                          <a:solidFill>
                            <a:srgbClr val="182620"/>
                          </a:solidFill>
                        </a:defRPr>
                      </a:pPr>
                      <a:r>
                        <a:t>Lower parameter footprint avoids overfitting; 4x faster feature extraction throughput</a:t>
                      </a:r>
                    </a:p>
                  </a:txBody>
                  <a:tcPr>
                    <a:solidFill>
                      <a:srgbClr val="FFFFFF"/>
                    </a:solidFill>
                  </a:tcPr>
                </a:tc>
              </a:tr>
              <a:tr h="762000">
                <a:tc>
                  <a:txBody>
                    <a:bodyPr/>
                    <a:lstStyle/>
                    <a:p>
                      <a:pPr>
                        <a:defRPr sz="850" b="1">
                          <a:solidFill>
                            <a:srgbClr val="0F2D24"/>
                          </a:solidFill>
                        </a:defRPr>
                      </a:pPr>
                      <a:r>
                        <a:t>Plot Tiling &amp; Edge</a:t>
                      </a:r>
                    </a:p>
                  </a:txBody>
                  <a:tcPr>
                    <a:solidFill>
                      <a:srgbClr val="F5F8F6"/>
                    </a:solidFill>
                  </a:tcPr>
                </a:tc>
                <a:tc>
                  <a:txBody>
                    <a:bodyPr/>
                    <a:lstStyle/>
                    <a:p>
                      <a:pPr>
                        <a:defRPr sz="850">
                          <a:solidFill>
                            <a:srgbClr val="182620"/>
                          </a:solidFill>
                        </a:defRPr>
                      </a:pPr>
                      <a:r>
                        <a:t>Zero-Padding (cv2.BORDER_CONSTANT)</a:t>
                      </a:r>
                      <a:br/>
                      <a:r>
                        <a:t>(Creates artificial high-contrast black edges)</a:t>
                      </a:r>
                    </a:p>
                  </a:txBody>
                  <a:tcPr>
                    <a:solidFill>
                      <a:srgbClr val="F5F8F6"/>
                    </a:solidFill>
                  </a:tcPr>
                </a:tc>
                <a:tc>
                  <a:txBody>
                    <a:bodyPr/>
                    <a:lstStyle/>
                    <a:p>
                      <a:pPr>
                        <a:defRPr sz="850" b="1">
                          <a:solidFill>
                            <a:srgbClr val="2E7D32"/>
                          </a:solidFill>
                        </a:defRPr>
                      </a:pPr>
                      <a:r>
                        <a:t>Replication Padding (BORDER_REPLICATE)</a:t>
                      </a:r>
                      <a:br/>
                      <a:r>
                        <a:t>(Extends edge pixels outward smoothly)</a:t>
                      </a:r>
                    </a:p>
                  </a:txBody>
                  <a:tcPr>
                    <a:solidFill>
                      <a:srgbClr val="F5F8F6"/>
                    </a:solidFill>
                  </a:tcPr>
                </a:tc>
                <a:tc>
                  <a:txBody>
                    <a:bodyPr/>
                    <a:lstStyle/>
                    <a:p>
                      <a:pPr>
                        <a:defRPr sz="850">
                          <a:solidFill>
                            <a:srgbClr val="182620"/>
                          </a:solidFill>
                        </a:defRPr>
                      </a:pPr>
                      <a:r>
                        <a:t>Preserves perimeter leaf geometry and row margins; eliminates fake zero-gradient edges</a:t>
                      </a:r>
                    </a:p>
                  </a:txBody>
                  <a:tcPr>
                    <a:solidFill>
                      <a:srgbClr val="F5F8F6"/>
                    </a:solidFill>
                  </a:tcPr>
                </a:tc>
              </a:tr>
              <a:tr h="762000">
                <a:tc>
                  <a:txBody>
                    <a:bodyPr/>
                    <a:lstStyle/>
                    <a:p>
                      <a:pPr>
                        <a:defRPr sz="850" b="1">
                          <a:solidFill>
                            <a:srgbClr val="0F2D24"/>
                          </a:solidFill>
                        </a:defRPr>
                      </a:pPr>
                      <a:r>
                        <a:t>Sensing Strategy</a:t>
                      </a:r>
                    </a:p>
                  </a:txBody>
                  <a:tcPr>
                    <a:solidFill>
                      <a:srgbClr val="FFFFFF"/>
                    </a:solidFill>
                  </a:tcPr>
                </a:tc>
                <a:tc>
                  <a:txBody>
                    <a:bodyPr/>
                    <a:lstStyle/>
                    <a:p>
                      <a:pPr>
                        <a:defRPr sz="850">
                          <a:solidFill>
                            <a:srgbClr val="182620"/>
                          </a:solidFill>
                        </a:defRPr>
                      </a:pPr>
                      <a:r>
                        <a:t>Single-Flight Snapshot (Flowering only)</a:t>
                      </a:r>
                      <a:br/>
                      <a:r>
                        <a:t>(Evaluates canopy solely at anthesis / R1)</a:t>
                      </a:r>
                    </a:p>
                  </a:txBody>
                  <a:tcPr>
                    <a:solidFill>
                      <a:srgbClr val="FFFFFF"/>
                    </a:solidFill>
                  </a:tcPr>
                </a:tc>
                <a:tc>
                  <a:txBody>
                    <a:bodyPr/>
                    <a:lstStyle/>
                    <a:p>
                      <a:pPr>
                        <a:defRPr sz="850" b="1">
                          <a:solidFill>
                            <a:srgbClr val="2E7D32"/>
                          </a:solidFill>
                        </a:defRPr>
                      </a:pPr>
                      <a:r>
                        <a:t>Multi-Temporal Triad (TP1 + TP2 + TP3)</a:t>
                      </a:r>
                      <a:br/>
                      <a:r>
                        <a:t>(Emergence, canopy closure, and flowering)</a:t>
                      </a:r>
                    </a:p>
                  </a:txBody>
                  <a:tcPr>
                    <a:solidFill>
                      <a:srgbClr val="FFFFFF"/>
                    </a:solidFill>
                  </a:tcPr>
                </a:tc>
                <a:tc>
                  <a:txBody>
                    <a:bodyPr/>
                    <a:lstStyle/>
                    <a:p>
                      <a:pPr>
                        <a:defRPr sz="850">
                          <a:solidFill>
                            <a:srgbClr val="182620"/>
                          </a:solidFill>
                        </a:defRPr>
                      </a:pPr>
                      <a:r>
                        <a:t>Captures growth velocity deltas; yields +1.5% R² gain over single-flight models</a:t>
                      </a:r>
                    </a:p>
                  </a:txBody>
                  <a:tcPr>
                    <a:solidFill>
                      <a:srgbClr val="FFFFFF"/>
                    </a:solidFill>
                  </a:tcPr>
                </a:tc>
              </a:tr>
              <a:tr h="762000">
                <a:tc>
                  <a:txBody>
                    <a:bodyPr/>
                    <a:lstStyle/>
                    <a:p>
                      <a:pPr>
                        <a:defRPr sz="850" b="1">
                          <a:solidFill>
                            <a:srgbClr val="0F2D24"/>
                          </a:solidFill>
                        </a:defRPr>
                      </a:pPr>
                      <a:r>
                        <a:t>Tabular Predictor</a:t>
                      </a:r>
                    </a:p>
                  </a:txBody>
                  <a:tcPr>
                    <a:solidFill>
                      <a:srgbClr val="F5F8F6"/>
                    </a:solidFill>
                  </a:tcPr>
                </a:tc>
                <a:tc>
                  <a:txBody>
                    <a:bodyPr/>
                    <a:lstStyle/>
                    <a:p>
                      <a:pPr>
                        <a:defRPr sz="850">
                          <a:solidFill>
                            <a:srgbClr val="182620"/>
                          </a:solidFill>
                        </a:defRPr>
                      </a:pPr>
                      <a:r>
                        <a:t>Single Standalone XGBoost / Random Forest</a:t>
                      </a:r>
                      <a:br/>
                      <a:r>
                        <a:t>(Prone to algorithm-specific variance)</a:t>
                      </a:r>
                    </a:p>
                  </a:txBody>
                  <a:tcPr>
                    <a:solidFill>
                      <a:srgbClr val="F5F8F6"/>
                    </a:solidFill>
                  </a:tcPr>
                </a:tc>
                <a:tc>
                  <a:txBody>
                    <a:bodyPr/>
                    <a:lstStyle/>
                    <a:p>
                      <a:pPr>
                        <a:defRPr sz="850" b="1">
                          <a:solidFill>
                            <a:srgbClr val="2E7D32"/>
                          </a:solidFill>
                        </a:defRPr>
                      </a:pPr>
                      <a:r>
                        <a:t>Multi-View Stacked Ensemble</a:t>
                      </a:r>
                      <a:br/>
                      <a:r>
                        <a:t>(XGBoost + ExtraTrees + HistGB + Ridge)</a:t>
                      </a:r>
                    </a:p>
                  </a:txBody>
                  <a:tcPr>
                    <a:solidFill>
                      <a:srgbClr val="F5F8F6"/>
                    </a:solidFill>
                  </a:tcPr>
                </a:tc>
                <a:tc>
                  <a:txBody>
                    <a:bodyPr/>
                    <a:lstStyle/>
                    <a:p>
                      <a:pPr>
                        <a:defRPr sz="850">
                          <a:solidFill>
                            <a:srgbClr val="182620"/>
                          </a:solidFill>
                        </a:defRPr>
                      </a:pPr>
                      <a:r>
                        <a:t>Algorithmic diversity stabilizes predictions; pushes in-domain R² to 0.845</a:t>
                      </a:r>
                    </a:p>
                  </a:txBody>
                  <a:tcPr>
                    <a:solidFill>
                      <a:srgbClr val="F5F8F6"/>
                    </a:solidFill>
                  </a:tcPr>
                </a:tc>
              </a:tr>
              <a:tr h="762000">
                <a:tc>
                  <a:txBody>
                    <a:bodyPr/>
                    <a:lstStyle/>
                    <a:p>
                      <a:pPr>
                        <a:defRPr sz="850" b="1">
                          <a:solidFill>
                            <a:srgbClr val="0F2D24"/>
                          </a:solidFill>
                        </a:defRPr>
                      </a:pPr>
                      <a:r>
                        <a:t>Cross-Site Transfer</a:t>
                      </a:r>
                    </a:p>
                  </a:txBody>
                  <a:tcPr>
                    <a:solidFill>
                      <a:srgbClr val="FFFFFF"/>
                    </a:solidFill>
                  </a:tcPr>
                </a:tc>
                <a:tc>
                  <a:txBody>
                    <a:bodyPr/>
                    <a:lstStyle/>
                    <a:p>
                      <a:pPr>
                        <a:defRPr sz="850">
                          <a:solidFill>
                            <a:srgbClr val="182620"/>
                          </a:solidFill>
                        </a:defRPr>
                      </a:pPr>
                      <a:r>
                        <a:t>Direct Monolithic Regression</a:t>
                      </a:r>
                      <a:br/>
                      <a:r>
                        <a:t>(Scored negative R² = -1.62 on unseen Indiana site)</a:t>
                      </a:r>
                    </a:p>
                  </a:txBody>
                  <a:tcPr>
                    <a:solidFill>
                      <a:srgbClr val="FFFFFF"/>
                    </a:solidFill>
                  </a:tcPr>
                </a:tc>
                <a:tc>
                  <a:txBody>
                    <a:bodyPr/>
                    <a:lstStyle/>
                    <a:p>
                      <a:pPr>
                        <a:defRPr sz="850" b="1">
                          <a:solidFill>
                            <a:srgbClr val="2E7D32"/>
                          </a:solidFill>
                        </a:defRPr>
                      </a:pPr>
                      <a:r>
                        <a:t>Decoupled Anchor + Ranker</a:t>
                      </a:r>
                      <a:br/>
                      <a:r>
                        <a:t>(Estimates field baseline separately from rank)</a:t>
                      </a:r>
                    </a:p>
                  </a:txBody>
                  <a:tcPr>
                    <a:solidFill>
                      <a:srgbClr val="FFFFFF"/>
                    </a:solidFill>
                  </a:tcPr>
                </a:tc>
                <a:tc>
                  <a:txBody>
                    <a:bodyPr/>
                    <a:lstStyle/>
                    <a:p>
                      <a:pPr>
                        <a:defRPr sz="850">
                          <a:solidFill>
                            <a:srgbClr val="182620"/>
                          </a:solidFill>
                        </a:defRPr>
                      </a:pPr>
                      <a:r>
                        <a:t>Flips negative R² to positive (+0.140 zero-shot, +0.217 with 15 calibration plots)</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SYSTEM IMPLEMENTATION • PRODUCTION DEPLOYMENT</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Software Implementation: The MaizeSight Web Platform</a:t>
            </a:r>
          </a:p>
          <a:p>
            <a:pPr>
              <a:spcBef>
                <a:spcPts val="300"/>
              </a:spcBef>
              <a:defRPr sz="1150">
                <a:solidFill>
                  <a:srgbClr val="55695F"/>
                </a:solidFill>
                <a:latin typeface="Calibri"/>
              </a:defRPr>
            </a:pPr>
            <a:r>
              <a:t>FastAPI asynchronous backend, 3D geospatial visualization, and real-time dual-model inference</a:t>
            </a:r>
          </a:p>
        </p:txBody>
      </p:sp>
      <p:pic>
        <p:nvPicPr>
          <p:cNvPr id="5" name="Picture 4" descr="inference_pipeline_diagram.jpg"/>
          <p:cNvPicPr>
            <a:picLocks noChangeAspect="1"/>
          </p:cNvPicPr>
          <p:nvPr/>
        </p:nvPicPr>
        <p:blipFill>
          <a:blip r:embed="rId2"/>
          <a:stretch>
            <a:fillRect/>
          </a:stretch>
        </p:blipFill>
        <p:spPr>
          <a:xfrm>
            <a:off x="731520" y="1645920"/>
            <a:ext cx="10725912" cy="47091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SECTION VI • CONCLUSION &amp; TAKEAWAYS</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Conclusion: Key Insights &amp; Scientific Learnings</a:t>
            </a:r>
          </a:p>
          <a:p>
            <a:pPr>
              <a:spcBef>
                <a:spcPts val="300"/>
              </a:spcBef>
              <a:defRPr sz="1150">
                <a:solidFill>
                  <a:srgbClr val="55695F"/>
                </a:solidFill>
                <a:latin typeface="Calibri"/>
              </a:defRPr>
            </a:pPr>
            <a:r>
              <a:t>Summary of project contributions and fundamental takeaways for agricultural AI</a:t>
            </a:r>
          </a:p>
        </p:txBody>
      </p:sp>
      <p:sp>
        <p:nvSpPr>
          <p:cNvPr id="5" name="Rounded Rectangle 4"/>
          <p:cNvSpPr/>
          <p:nvPr/>
        </p:nvSpPr>
        <p:spPr>
          <a:xfrm>
            <a:off x="731520" y="164592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50">
                <a:solidFill>
                  <a:srgbClr val="0F2D24"/>
                </a:solidFill>
              </a:defRPr>
            </a:pPr>
            <a:r>
              <a:t>1. Multi-Temporal Sensing is Non-Negotiable</a:t>
            </a:r>
          </a:p>
          <a:p>
            <a:pPr>
              <a:spcBef>
                <a:spcPts val="400"/>
              </a:spcBef>
              <a:defRPr sz="950">
                <a:solidFill>
                  <a:srgbClr val="182620"/>
                </a:solidFill>
              </a:defRPr>
            </a:pPr>
            <a:r>
              <a:t>Single-flight snapshots cannot separate temporary weather stress from true physiological potential. Combining early emergence (TP1), peak canopy closure (TP2), and flowering anthesis (TP3) is essential for high-confidence harvest estimation.</a:t>
            </a:r>
          </a:p>
        </p:txBody>
      </p:sp>
      <p:sp>
        <p:nvSpPr>
          <p:cNvPr id="6" name="Rounded Rectangle 5"/>
          <p:cNvSpPr/>
          <p:nvPr/>
        </p:nvSpPr>
        <p:spPr>
          <a:xfrm>
            <a:off x="6217920" y="164592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50">
                <a:solidFill>
                  <a:srgbClr val="2E7D32"/>
                </a:solidFill>
              </a:defRPr>
            </a:pPr>
            <a:r>
              <a:t>2. Hybrid Feature Fusion Trumps Pure Vision</a:t>
            </a:r>
          </a:p>
          <a:p>
            <a:pPr>
              <a:spcBef>
                <a:spcPts val="400"/>
              </a:spcBef>
              <a:defRPr sz="950">
                <a:solidFill>
                  <a:srgbClr val="182620"/>
                </a:solidFill>
              </a:defRPr>
            </a:pPr>
            <a:r>
              <a:t>Coupling deep CNN embeddings (EfficientNet-B0) with biophysical canopy indices (ExG, VARI), hybrid parental pedigrees, and 2D spatial kriging significantly outperforms black-box image-to-yield neural networks.</a:t>
            </a:r>
          </a:p>
        </p:txBody>
      </p:sp>
      <p:sp>
        <p:nvSpPr>
          <p:cNvPr id="7" name="Rounded Rectangle 6"/>
          <p:cNvSpPr/>
          <p:nvPr/>
        </p:nvSpPr>
        <p:spPr>
          <a:xfrm>
            <a:off x="731520" y="41148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50">
                <a:solidFill>
                  <a:srgbClr val="E5A93C"/>
                </a:solidFill>
              </a:defRPr>
            </a:pPr>
            <a:r>
              <a:t>3. Decoupling Solves the Cross-Site Domain Shift</a:t>
            </a:r>
          </a:p>
          <a:p>
            <a:pPr>
              <a:spcBef>
                <a:spcPts val="400"/>
              </a:spcBef>
              <a:defRPr sz="950">
                <a:solidFill>
                  <a:srgbClr val="182620"/>
                </a:solidFill>
              </a:defRPr>
            </a:pPr>
            <a:r>
              <a:t>Monolithic models fail when deployed to new farms because baseline yields vary wildly. Decoupling macro field-level yield anchoring from within-field spatial ranking flips negative cross-site R² to positive zero-shot performance.</a:t>
            </a:r>
          </a:p>
        </p:txBody>
      </p:sp>
      <p:sp>
        <p:nvSpPr>
          <p:cNvPr id="8" name="Rounded Rectangle 7"/>
          <p:cNvSpPr/>
          <p:nvPr/>
        </p:nvSpPr>
        <p:spPr>
          <a:xfrm>
            <a:off x="6217920" y="4114800"/>
            <a:ext cx="521208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50">
                <a:solidFill>
                  <a:srgbClr val="0F2D24"/>
                </a:solidFill>
              </a:defRPr>
            </a:pPr>
            <a:r>
              <a:t>4. Few-Shot Field Calibration is Practical &amp; Scalable</a:t>
            </a:r>
          </a:p>
          <a:p>
            <a:pPr>
              <a:spcBef>
                <a:spcPts val="400"/>
              </a:spcBef>
              <a:defRPr sz="950">
                <a:solidFill>
                  <a:srgbClr val="182620"/>
                </a:solidFill>
              </a:defRPr>
            </a:pPr>
            <a:r>
              <a:t>Measuring as few as 15 reference calibration plots in an unfamiliar field boosts generalization R² to +0.217 and drops RMSE to 21.89 bu/ac, providing a highly cost-effective operational blueprint for commercial growers.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SECTION VI • FUTURE ENHANCEMENTS</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Future Enhancements &amp; Research Roadmap</a:t>
            </a:r>
          </a:p>
          <a:p>
            <a:pPr>
              <a:spcBef>
                <a:spcPts val="300"/>
              </a:spcBef>
              <a:defRPr sz="1150">
                <a:solidFill>
                  <a:srgbClr val="55695F"/>
                </a:solidFill>
                <a:latin typeface="Calibri"/>
              </a:defRPr>
            </a:pPr>
            <a:r>
              <a:t>Scaling MaizeSight from research trial plots to continental production agriculture</a:t>
            </a:r>
          </a:p>
        </p:txBody>
      </p:sp>
      <p:sp>
        <p:nvSpPr>
          <p:cNvPr id="5" name="Rounded Rectangle 4"/>
          <p:cNvSpPr/>
          <p:nvPr/>
        </p:nvSpPr>
        <p:spPr>
          <a:xfrm>
            <a:off x="731520" y="1645920"/>
            <a:ext cx="2487168"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00">
                <a:solidFill>
                  <a:srgbClr val="0F2D24"/>
                </a:solidFill>
              </a:defRPr>
            </a:pPr>
            <a:r>
              <a:t>1. Multispectral &amp; Thermal Fusion</a:t>
            </a:r>
          </a:p>
          <a:p>
            <a:pPr>
              <a:spcBef>
                <a:spcPts val="1200"/>
              </a:spcBef>
            </a:pPr>
            <a:r>
              <a:rPr b="1" sz="950">
                <a:solidFill>
                  <a:srgbClr val="0F2D24"/>
                </a:solidFill>
              </a:rPr>
              <a:t>• Thermal Infrared: </a:t>
            </a:r>
            <a:r>
              <a:rPr sz="900">
                <a:solidFill>
                  <a:srgbClr val="182620"/>
                </a:solidFill>
              </a:rPr>
              <a:t>Capture canopy surface temperature and transpiration cooling to detect early moisture stress.</a:t>
            </a:r>
          </a:p>
          <a:p>
            <a:pPr>
              <a:spcBef>
                <a:spcPts val="1200"/>
              </a:spcBef>
            </a:pPr>
            <a:r>
              <a:rPr b="1" sz="950">
                <a:solidFill>
                  <a:srgbClr val="0F2D24"/>
                </a:solidFill>
              </a:rPr>
              <a:t>• RedEdge Wavebands: </a:t>
            </a:r>
            <a:r>
              <a:rPr sz="900">
                <a:solidFill>
                  <a:srgbClr val="182620"/>
                </a:solidFill>
              </a:rPr>
              <a:t>Directly quantify chlorophyll-a/b absorption for precise nitrogen status mapping.</a:t>
            </a:r>
          </a:p>
        </p:txBody>
      </p:sp>
      <p:sp>
        <p:nvSpPr>
          <p:cNvPr id="6" name="Rounded Rectangle 5"/>
          <p:cNvSpPr/>
          <p:nvPr/>
        </p:nvSpPr>
        <p:spPr>
          <a:xfrm>
            <a:off x="3456432" y="1645920"/>
            <a:ext cx="2487168" cy="4754880"/>
          </a:xfrm>
          <a:prstGeom prst="roundRect">
            <a:avLst/>
          </a:prstGeom>
          <a:solidFill>
            <a:srgbClr val="FFFFFF"/>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00">
                <a:solidFill>
                  <a:srgbClr val="2E7D32"/>
                </a:solidFill>
              </a:defRPr>
            </a:pPr>
            <a:r>
              <a:t>2. Satellite-UAV Harmonization</a:t>
            </a:r>
          </a:p>
          <a:p>
            <a:pPr>
              <a:spcBef>
                <a:spcPts val="1200"/>
              </a:spcBef>
            </a:pPr>
            <a:r>
              <a:rPr b="1" sz="950">
                <a:solidFill>
                  <a:srgbClr val="2E7D32"/>
                </a:solidFill>
              </a:rPr>
              <a:t>• Harmonized Constellations: </a:t>
            </a:r>
            <a:r>
              <a:rPr sz="900">
                <a:solidFill>
                  <a:srgbClr val="182620"/>
                </a:solidFill>
              </a:rPr>
              <a:t>Fuse high-frequency UAV imagery with Sentinel-2 and PlanetScope satellite data.</a:t>
            </a:r>
          </a:p>
          <a:p>
            <a:pPr>
              <a:spcBef>
                <a:spcPts val="1200"/>
              </a:spcBef>
            </a:pPr>
            <a:r>
              <a:rPr b="1" sz="950">
                <a:solidFill>
                  <a:srgbClr val="2E7D32"/>
                </a:solidFill>
              </a:rPr>
              <a:t>• Gap-Filling: </a:t>
            </a:r>
            <a:r>
              <a:rPr sz="900">
                <a:solidFill>
                  <a:srgbClr val="182620"/>
                </a:solidFill>
              </a:rPr>
              <a:t>Use satellite temporal curves to bridge cloudy periods between scheduled drone flights.</a:t>
            </a:r>
          </a:p>
        </p:txBody>
      </p:sp>
      <p:sp>
        <p:nvSpPr>
          <p:cNvPr id="7" name="Rounded Rectangle 6"/>
          <p:cNvSpPr/>
          <p:nvPr/>
        </p:nvSpPr>
        <p:spPr>
          <a:xfrm>
            <a:off x="6181344" y="1645920"/>
            <a:ext cx="2487168" cy="4754880"/>
          </a:xfrm>
          <a:prstGeom prst="roundRect">
            <a:avLst/>
          </a:prstGeom>
          <a:solidFill>
            <a:srgbClr val="FFFFFF"/>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00">
                <a:solidFill>
                  <a:srgbClr val="E5A93C"/>
                </a:solidFill>
              </a:defRPr>
            </a:pPr>
            <a:r>
              <a:t>3. Spatio-Temporal Transformers</a:t>
            </a:r>
          </a:p>
          <a:p>
            <a:pPr>
              <a:spcBef>
                <a:spcPts val="1200"/>
              </a:spcBef>
            </a:pPr>
            <a:r>
              <a:rPr b="1" sz="950">
                <a:solidFill>
                  <a:srgbClr val="E5A93C"/>
                </a:solidFill>
              </a:rPr>
              <a:t>• Vision Transformers (ViT): </a:t>
            </a:r>
            <a:r>
              <a:rPr sz="900">
                <a:solidFill>
                  <a:srgbClr val="182620"/>
                </a:solidFill>
              </a:rPr>
              <a:t>Replace manual multi-step pooling with 3D spatio-temporal self-attention.</a:t>
            </a:r>
          </a:p>
          <a:p>
            <a:pPr>
              <a:spcBef>
                <a:spcPts val="1200"/>
              </a:spcBef>
            </a:pPr>
            <a:r>
              <a:rPr b="1" sz="950">
                <a:solidFill>
                  <a:srgbClr val="E5A93C"/>
                </a:solidFill>
              </a:rPr>
              <a:t>• Dynamic Phenology: </a:t>
            </a:r>
            <a:r>
              <a:rPr sz="900">
                <a:solidFill>
                  <a:srgbClr val="182620"/>
                </a:solidFill>
              </a:rPr>
              <a:t>Learn cross-flight attention weights to track variable crop emergence timelines.</a:t>
            </a:r>
          </a:p>
        </p:txBody>
      </p:sp>
      <p:sp>
        <p:nvSpPr>
          <p:cNvPr id="8" name="Rounded Rectangle 7"/>
          <p:cNvSpPr/>
          <p:nvPr/>
        </p:nvSpPr>
        <p:spPr>
          <a:xfrm>
            <a:off x="8906256" y="1645920"/>
            <a:ext cx="2487168"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100">
                <a:solidFill>
                  <a:srgbClr val="0F2D24"/>
                </a:solidFill>
              </a:defRPr>
            </a:pPr>
            <a:r>
              <a:t>4. Edge AI On-Drone Inference</a:t>
            </a:r>
          </a:p>
          <a:p>
            <a:pPr>
              <a:spcBef>
                <a:spcPts val="1200"/>
              </a:spcBef>
            </a:pPr>
            <a:r>
              <a:rPr b="1" sz="950">
                <a:solidFill>
                  <a:srgbClr val="0F2D24"/>
                </a:solidFill>
              </a:rPr>
              <a:t>• Quantization &amp; TensorRT: </a:t>
            </a:r>
            <a:r>
              <a:rPr sz="900">
                <a:solidFill>
                  <a:srgbClr val="182620"/>
                </a:solidFill>
              </a:rPr>
              <a:t>Convert PyTorch / XGBoost models to INT8 ONNX/TensorRT engines.</a:t>
            </a:r>
          </a:p>
          <a:p>
            <a:pPr>
              <a:spcBef>
                <a:spcPts val="1200"/>
              </a:spcBef>
            </a:pPr>
            <a:r>
              <a:rPr b="1" sz="950">
                <a:solidFill>
                  <a:srgbClr val="0F2D24"/>
                </a:solidFill>
              </a:rPr>
              <a:t>• NVIDIA Jetson Payloads: </a:t>
            </a:r>
            <a:r>
              <a:rPr sz="900">
                <a:solidFill>
                  <a:srgbClr val="182620"/>
                </a:solidFill>
              </a:rPr>
              <a:t>Run live yield estimation and diagnostic flagging on companion drone computers in flight.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20040"/>
            <a:ext cx="3840480" cy="292608"/>
          </a:xfrm>
          <a:prstGeom prst="roundRect">
            <a:avLst/>
          </a:prstGeom>
          <a:solidFill>
            <a:srgbClr val="E8F5E9"/>
          </a:solidFill>
          <a:ln w="127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2E7D32"/>
                </a:solidFill>
                <a:latin typeface="Calibri"/>
              </a:defRPr>
            </a:pPr>
            <a:r>
              <a:t>SECTION VII • ACADEMIC REFERENCES</a:t>
            </a:r>
          </a:p>
        </p:txBody>
      </p:sp>
      <p:sp>
        <p:nvSpPr>
          <p:cNvPr id="4" name="TextBox 3"/>
          <p:cNvSpPr txBox="1"/>
          <p:nvPr/>
        </p:nvSpPr>
        <p:spPr>
          <a:xfrm>
            <a:off x="731520" y="658368"/>
            <a:ext cx="10698480" cy="841248"/>
          </a:xfrm>
          <a:prstGeom prst="rect">
            <a:avLst/>
          </a:prstGeom>
          <a:noFill/>
        </p:spPr>
        <p:txBody>
          <a:bodyPr wrap="square" lIns="0" tIns="0" rIns="0" bIns="0">
            <a:spAutoFit/>
          </a:bodyPr>
          <a:lstStyle/>
          <a:p>
            <a:pPr>
              <a:defRPr sz="2100" b="1">
                <a:solidFill>
                  <a:srgbClr val="0F2D24"/>
                </a:solidFill>
                <a:latin typeface="Calibri"/>
              </a:defRPr>
            </a:pPr>
            <a:r>
              <a:t>References &amp; Foundational Literature</a:t>
            </a:r>
          </a:p>
          <a:p>
            <a:pPr>
              <a:spcBef>
                <a:spcPts val="300"/>
              </a:spcBef>
              <a:defRPr sz="1150">
                <a:solidFill>
                  <a:srgbClr val="55695F"/>
                </a:solidFill>
                <a:latin typeface="Calibri"/>
              </a:defRPr>
            </a:pPr>
            <a:r>
              <a:t>Peer-reviewed literature across remote sensing, deep vision, gradient boosting, and agronomy</a:t>
            </a:r>
          </a:p>
        </p:txBody>
      </p:sp>
      <p:sp>
        <p:nvSpPr>
          <p:cNvPr id="5" name="Rounded Rectangle 4"/>
          <p:cNvSpPr/>
          <p:nvPr/>
        </p:nvSpPr>
        <p:spPr>
          <a:xfrm>
            <a:off x="731520" y="164592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200">
                <a:solidFill>
                  <a:srgbClr val="0F2D24"/>
                </a:solidFill>
              </a:defRPr>
            </a:pPr>
            <a:r>
              <a:t>Remote Sensing &amp; Agricultural Data</a:t>
            </a:r>
          </a:p>
          <a:p>
            <a:pPr>
              <a:spcBef>
                <a:spcPts val="1200"/>
              </a:spcBef>
            </a:pPr>
            <a:r>
              <a:rPr b="1" sz="950">
                <a:solidFill>
                  <a:srgbClr val="0F2D24"/>
                </a:solidFill>
              </a:rPr>
              <a:t>1. Shrestha, S., et al. (2022).
</a:t>
            </a:r>
            <a:r>
              <a:rPr sz="900">
                <a:solidFill>
                  <a:srgbClr val="182620"/>
                </a:solidFill>
              </a:rPr>
              <a:t>Crop performance, aerial, and satellite data from multistate maize yield trials. Dryad Digital Repository. doi:10.5061/dryad.905qftttm.</a:t>
            </a:r>
          </a:p>
          <a:p>
            <a:pPr>
              <a:spcBef>
                <a:spcPts val="1200"/>
              </a:spcBef>
            </a:pPr>
            <a:r>
              <a:rPr b="1" sz="950">
                <a:solidFill>
                  <a:srgbClr val="0F2D24"/>
                </a:solidFill>
              </a:rPr>
              <a:t>2. Woebbecke, D. M., et al. (1995).
</a:t>
            </a:r>
            <a:r>
              <a:rPr sz="900">
                <a:solidFill>
                  <a:srgbClr val="182620"/>
                </a:solidFill>
              </a:rPr>
              <a:t>Color indices for weed identification under various soil, residue, and lighting conditions. Transactions of the ASAE, 38(1), 259–269. (Foundation for Excess Green - ExG).</a:t>
            </a:r>
          </a:p>
          <a:p>
            <a:pPr>
              <a:spcBef>
                <a:spcPts val="1200"/>
              </a:spcBef>
            </a:pPr>
            <a:r>
              <a:rPr b="1" sz="950">
                <a:solidFill>
                  <a:srgbClr val="0F2D24"/>
                </a:solidFill>
              </a:rPr>
              <a:t>3. Gitelson, A. A., et al. (2002).
</a:t>
            </a:r>
            <a:r>
              <a:rPr sz="900">
                <a:solidFill>
                  <a:srgbClr val="182620"/>
                </a:solidFill>
              </a:rPr>
              <a:t>Novel algorithms for remote estimation of vegetation fraction. Remote Sensing of Environment, 80(1), 76–87. (Visible Atmospherically Resistant Index - VARI).</a:t>
            </a:r>
          </a:p>
        </p:txBody>
      </p:sp>
      <p:sp>
        <p:nvSpPr>
          <p:cNvPr id="6" name="Rounded Rectangle 5"/>
          <p:cNvSpPr/>
          <p:nvPr/>
        </p:nvSpPr>
        <p:spPr>
          <a:xfrm>
            <a:off x="6217920" y="164592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200">
                <a:solidFill>
                  <a:srgbClr val="2E7D32"/>
                </a:solidFill>
              </a:defRPr>
            </a:pPr>
            <a:r>
              <a:t>Computer Vision &amp; Machine Learning</a:t>
            </a:r>
          </a:p>
          <a:p>
            <a:pPr>
              <a:spcBef>
                <a:spcPts val="1200"/>
              </a:spcBef>
            </a:pPr>
            <a:r>
              <a:rPr b="1" sz="950">
                <a:solidFill>
                  <a:srgbClr val="2E7D32"/>
                </a:solidFill>
              </a:rPr>
              <a:t>4. Tan, M., &amp; Le, Q. V. (2019).
</a:t>
            </a:r>
            <a:r>
              <a:rPr sz="900">
                <a:solidFill>
                  <a:srgbClr val="182620"/>
                </a:solidFill>
              </a:rPr>
              <a:t>EfficientNet: Rethinking Model Scaling for Convolutional Neural Networks. International Conference on Machine Learning (ICML), PMLR, 6105–6114.</a:t>
            </a:r>
          </a:p>
          <a:p>
            <a:pPr>
              <a:spcBef>
                <a:spcPts val="1200"/>
              </a:spcBef>
            </a:pPr>
            <a:r>
              <a:rPr b="1" sz="950">
                <a:solidFill>
                  <a:srgbClr val="2E7D32"/>
                </a:solidFill>
              </a:rPr>
              <a:t>5. Chen, T., &amp; Guestrin, C. (2016).
</a:t>
            </a:r>
            <a:r>
              <a:rPr sz="900">
                <a:solidFill>
                  <a:srgbClr val="182620"/>
                </a:solidFill>
              </a:rPr>
              <a:t>XGBoost: A Scalable Tree Boosting System. Proceedings of the 22nd ACM SIGKDD International Conference on Knowledge Discovery and Data Mining, 785–794.</a:t>
            </a:r>
          </a:p>
          <a:p>
            <a:pPr>
              <a:spcBef>
                <a:spcPts val="1200"/>
              </a:spcBef>
            </a:pPr>
            <a:r>
              <a:rPr b="1" sz="950">
                <a:solidFill>
                  <a:srgbClr val="2E7D32"/>
                </a:solidFill>
              </a:rPr>
              <a:t>6. Peng, H., Long, F., &amp; Ding, C. (2005).
</a:t>
            </a:r>
            <a:r>
              <a:rPr sz="900">
                <a:solidFill>
                  <a:srgbClr val="182620"/>
                </a:solidFill>
              </a:rPr>
              <a:t>Feature selection based on mutual information: criteria of max-dependency, max-relevance, and min-redundancy. IEEE TPAMI, 27(8), 1226–1238.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0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5A9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320040"/>
            <a:ext cx="3840480" cy="292608"/>
          </a:xfrm>
          <a:prstGeom prst="roundRect">
            <a:avLst/>
          </a:prstGeom>
          <a:solidFill>
            <a:srgbClr val="E5A93C"/>
          </a:solidFill>
          <a:ln w="12700">
            <a:solidFill>
              <a:srgbClr val="E5A93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b="1">
                <a:solidFill>
                  <a:srgbClr val="0B2019"/>
                </a:solidFill>
                <a:latin typeface="Calibri"/>
              </a:defRPr>
            </a:pPr>
            <a:r>
              <a:t>SECTION VIII • PROJECT TEAM &amp; ACKNOWLEDGEMENTS</a:t>
            </a:r>
          </a:p>
        </p:txBody>
      </p:sp>
      <p:sp>
        <p:nvSpPr>
          <p:cNvPr id="5" name="TextBox 4"/>
          <p:cNvSpPr txBox="1"/>
          <p:nvPr/>
        </p:nvSpPr>
        <p:spPr>
          <a:xfrm>
            <a:off x="731520" y="658368"/>
            <a:ext cx="10698480" cy="841248"/>
          </a:xfrm>
          <a:prstGeom prst="rect">
            <a:avLst/>
          </a:prstGeom>
          <a:noFill/>
        </p:spPr>
        <p:txBody>
          <a:bodyPr wrap="square" lIns="0" tIns="0" rIns="0" bIns="0">
            <a:spAutoFit/>
          </a:bodyPr>
          <a:lstStyle/>
          <a:p>
            <a:pPr>
              <a:defRPr sz="2100" b="1">
                <a:solidFill>
                  <a:srgbClr val="FFFFFF"/>
                </a:solidFill>
                <a:latin typeface="Calibri"/>
              </a:defRPr>
            </a:pPr>
            <a:r>
              <a:t>Contributors &amp; Acknowledgements</a:t>
            </a:r>
          </a:p>
          <a:p>
            <a:pPr>
              <a:spcBef>
                <a:spcPts val="300"/>
              </a:spcBef>
              <a:defRPr sz="1150">
                <a:solidFill>
                  <a:srgbClr val="AFCDC0"/>
                </a:solidFill>
                <a:latin typeface="Calibri"/>
              </a:defRPr>
            </a:pPr>
            <a:r>
              <a:t>Multidisciplinary collaboration spanning machine learning, remote sensing, agronomy, and software engineering</a:t>
            </a:r>
          </a:p>
        </p:txBody>
      </p:sp>
      <p:sp>
        <p:nvSpPr>
          <p:cNvPr id="6" name="Rounded Rectangle 5"/>
          <p:cNvSpPr/>
          <p:nvPr/>
        </p:nvSpPr>
        <p:spPr>
          <a:xfrm>
            <a:off x="731520" y="1645920"/>
            <a:ext cx="2487168" cy="3291840"/>
          </a:xfrm>
          <a:prstGeom prst="roundRect">
            <a:avLst/>
          </a:prstGeom>
          <a:solidFill>
            <a:srgbClr val="123026"/>
          </a:solidFill>
          <a:ln w="12700">
            <a:solidFill>
              <a:srgbClr val="2655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300">
                <a:solidFill>
                  <a:srgbClr val="E5A93C"/>
                </a:solidFill>
              </a:defRPr>
            </a:pPr>
            <a:r>
              <a:t>Contributor 1</a:t>
            </a:r>
          </a:p>
          <a:p>
            <a:pPr>
              <a:spcBef>
                <a:spcPts val="300"/>
              </a:spcBef>
              <a:defRPr b="1" sz="1000">
                <a:solidFill>
                  <a:srgbClr val="FFFFFF"/>
                </a:solidFill>
              </a:defRPr>
            </a:pPr>
            <a:r>
              <a:t>Machine Learning Lead</a:t>
            </a:r>
          </a:p>
          <a:p>
            <a:pPr>
              <a:spcBef>
                <a:spcPts val="200"/>
              </a:spcBef>
              <a:defRPr sz="900">
                <a:solidFill>
                  <a:srgbClr val="A5D6A7"/>
                </a:solidFill>
              </a:defRPr>
            </a:pPr>
            <a:r>
              <a:t>EfficientNet-B0 Backbone</a:t>
            </a:r>
          </a:p>
          <a:p>
            <a:pPr>
              <a:spcBef>
                <a:spcPts val="800"/>
              </a:spcBef>
              <a:defRPr sz="850">
                <a:solidFill>
                  <a:srgbClr val="BED7CD"/>
                </a:solidFill>
              </a:defRPr>
            </a:pPr>
            <a:r>
              <a:t>Fine-tuned deep vision models, extracted 1,280-D patch embeddings, and engineered Model 1 three-view stacked ensemble.</a:t>
            </a:r>
          </a:p>
        </p:txBody>
      </p:sp>
      <p:sp>
        <p:nvSpPr>
          <p:cNvPr id="7" name="Rounded Rectangle 6"/>
          <p:cNvSpPr/>
          <p:nvPr/>
        </p:nvSpPr>
        <p:spPr>
          <a:xfrm>
            <a:off x="3456432" y="1645920"/>
            <a:ext cx="2487168" cy="3291840"/>
          </a:xfrm>
          <a:prstGeom prst="roundRect">
            <a:avLst/>
          </a:prstGeom>
          <a:solidFill>
            <a:srgbClr val="123026"/>
          </a:solidFill>
          <a:ln w="12700">
            <a:solidFill>
              <a:srgbClr val="2655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300">
                <a:solidFill>
                  <a:srgbClr val="E5A93C"/>
                </a:solidFill>
              </a:defRPr>
            </a:pPr>
            <a:r>
              <a:t>Contributor 2</a:t>
            </a:r>
          </a:p>
          <a:p>
            <a:pPr>
              <a:spcBef>
                <a:spcPts val="300"/>
              </a:spcBef>
              <a:defRPr b="1" sz="1000">
                <a:solidFill>
                  <a:srgbClr val="FFFFFF"/>
                </a:solidFill>
              </a:defRPr>
            </a:pPr>
            <a:r>
              <a:t>Data &amp; Remote Sensing</a:t>
            </a:r>
          </a:p>
          <a:p>
            <a:pPr>
              <a:spcBef>
                <a:spcPts val="200"/>
              </a:spcBef>
              <a:defRPr sz="900">
                <a:solidFill>
                  <a:srgbClr val="A5D6A7"/>
                </a:solidFill>
              </a:defRPr>
            </a:pPr>
            <a:r>
              <a:t>UAV Image Preprocessing</a:t>
            </a:r>
          </a:p>
          <a:p>
            <a:pPr>
              <a:spcBef>
                <a:spcPts val="800"/>
              </a:spcBef>
              <a:defRPr sz="850">
                <a:solidFill>
                  <a:srgbClr val="BED7CD"/>
                </a:solidFill>
              </a:defRPr>
            </a:pPr>
            <a:r>
              <a:t>Audited 7,281 drone files, implemented replication padding, extracted 12 biophysical canopy indices, and computed temporal velocities.</a:t>
            </a:r>
          </a:p>
        </p:txBody>
      </p:sp>
      <p:sp>
        <p:nvSpPr>
          <p:cNvPr id="8" name="Rounded Rectangle 7"/>
          <p:cNvSpPr/>
          <p:nvPr/>
        </p:nvSpPr>
        <p:spPr>
          <a:xfrm>
            <a:off x="6181344" y="1645920"/>
            <a:ext cx="2487168" cy="3291840"/>
          </a:xfrm>
          <a:prstGeom prst="roundRect">
            <a:avLst/>
          </a:prstGeom>
          <a:solidFill>
            <a:srgbClr val="123026"/>
          </a:solidFill>
          <a:ln w="12700">
            <a:solidFill>
              <a:srgbClr val="2655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300">
                <a:solidFill>
                  <a:srgbClr val="E5A93C"/>
                </a:solidFill>
              </a:defRPr>
            </a:pPr>
            <a:r>
              <a:t>Contributor 3</a:t>
            </a:r>
          </a:p>
          <a:p>
            <a:pPr>
              <a:spcBef>
                <a:spcPts val="300"/>
              </a:spcBef>
              <a:defRPr b="1" sz="1000">
                <a:solidFill>
                  <a:srgbClr val="FFFFFF"/>
                </a:solidFill>
              </a:defRPr>
            </a:pPr>
            <a:r>
              <a:t>Cross-Domain Lead</a:t>
            </a:r>
          </a:p>
          <a:p>
            <a:pPr>
              <a:spcBef>
                <a:spcPts val="200"/>
              </a:spcBef>
              <a:defRPr sz="900">
                <a:solidFill>
                  <a:srgbClr val="A5D6A7"/>
                </a:solidFill>
              </a:defRPr>
            </a:pPr>
            <a:r>
              <a:t>Decoupled Architecture</a:t>
            </a:r>
          </a:p>
          <a:p>
            <a:pPr>
              <a:spcBef>
                <a:spcPts val="800"/>
              </a:spcBef>
              <a:defRPr sz="850">
                <a:solidFill>
                  <a:srgbClr val="BED7CD"/>
                </a:solidFill>
              </a:defRPr>
            </a:pPr>
            <a:r>
              <a:t>Designed Leave-One-Location-Out cross-validation, formulated Anchor-Ranker architecture, and developed few-shot calibration.</a:t>
            </a:r>
          </a:p>
        </p:txBody>
      </p:sp>
      <p:sp>
        <p:nvSpPr>
          <p:cNvPr id="9" name="Rounded Rectangle 8"/>
          <p:cNvSpPr/>
          <p:nvPr/>
        </p:nvSpPr>
        <p:spPr>
          <a:xfrm>
            <a:off x="8906256" y="1645920"/>
            <a:ext cx="2487168" cy="3291840"/>
          </a:xfrm>
          <a:prstGeom prst="roundRect">
            <a:avLst/>
          </a:prstGeom>
          <a:solidFill>
            <a:srgbClr val="123026"/>
          </a:solidFill>
          <a:ln w="12700">
            <a:solidFill>
              <a:srgbClr val="2655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b="1" sz="1300">
                <a:solidFill>
                  <a:srgbClr val="E5A93C"/>
                </a:solidFill>
              </a:defRPr>
            </a:pPr>
            <a:r>
              <a:t>Contributor 4</a:t>
            </a:r>
          </a:p>
          <a:p>
            <a:pPr>
              <a:spcBef>
                <a:spcPts val="300"/>
              </a:spcBef>
              <a:defRPr b="1" sz="1000">
                <a:solidFill>
                  <a:srgbClr val="FFFFFF"/>
                </a:solidFill>
              </a:defRPr>
            </a:pPr>
            <a:r>
              <a:t>Full-Stack Architect</a:t>
            </a:r>
          </a:p>
          <a:p>
            <a:pPr>
              <a:spcBef>
                <a:spcPts val="200"/>
              </a:spcBef>
              <a:defRPr sz="900">
                <a:solidFill>
                  <a:srgbClr val="A5D6A7"/>
                </a:solidFill>
              </a:defRPr>
            </a:pPr>
            <a:r>
              <a:t>FastAPI &amp; 3D Web Platform</a:t>
            </a:r>
          </a:p>
          <a:p>
            <a:pPr>
              <a:spcBef>
                <a:spcPts val="800"/>
              </a:spcBef>
              <a:defRPr sz="850">
                <a:solidFill>
                  <a:srgbClr val="BED7CD"/>
                </a:solidFill>
              </a:defRPr>
            </a:pPr>
            <a:r>
              <a:t>Constructed high-speed asynchronous REST API, interactive Three.js 3D terrain canvas, automated regex file matcher, and quality flaggers.</a:t>
            </a:r>
          </a:p>
        </p:txBody>
      </p:sp>
      <p:sp>
        <p:nvSpPr>
          <p:cNvPr id="10" name="Rounded Rectangle 9"/>
          <p:cNvSpPr/>
          <p:nvPr/>
        </p:nvSpPr>
        <p:spPr>
          <a:xfrm>
            <a:off x="731520" y="5166360"/>
            <a:ext cx="10698480" cy="1234440"/>
          </a:xfrm>
          <a:prstGeom prst="roundRect">
            <a:avLst/>
          </a:prstGeom>
          <a:solidFill>
            <a:srgbClr val="123026"/>
          </a:solidFill>
          <a:ln w="19050">
            <a:solidFill>
              <a:srgbClr val="E5A93C"/>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b="1" sz="1050">
                <a:solidFill>
                  <a:srgbClr val="E5A93C"/>
                </a:solidFill>
              </a:defRPr>
            </a:pPr>
            <a:r>
              <a:t>PROJECT ACKNOWLEDGEMENTS &amp; OPEN SOURCE ECOSYSTEM</a:t>
            </a:r>
          </a:p>
          <a:p>
            <a:pPr>
              <a:spcBef>
                <a:spcPts val="400"/>
              </a:spcBef>
              <a:defRPr sz="950">
                <a:solidFill>
                  <a:srgbClr val="FFFFFF"/>
                </a:solidFill>
              </a:defRPr>
            </a:pPr>
            <a:r>
              <a:t>Special thanks to project mentors, research faculty, and the open-source community powering PyTorch, XGBoost, Scikit-learn, OpenCV, FastAPI, and Three.js.</a:t>
            </a:r>
            <a:br/>
            <a:r>
              <a:t>Thank you for your attention! We now welcome questions and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